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9" r:id="rId3"/>
    <p:sldId id="271" r:id="rId4"/>
    <p:sldId id="264" r:id="rId5"/>
    <p:sldId id="272" r:id="rId6"/>
    <p:sldId id="273" r:id="rId7"/>
    <p:sldId id="263" r:id="rId8"/>
    <p:sldId id="274" r:id="rId9"/>
    <p:sldId id="269"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6" d="100"/>
          <a:sy n="126" d="100"/>
        </p:scale>
        <p:origin x="202"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10001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58407F-6E5E-E979-0F3E-DA33A9877A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F1D89C-1E1A-E727-9F49-342AD0D304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2963D4-E102-56DD-4457-3B6BD5BDC8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D19A6B0-A591-2F66-B650-F75D0C9EB67B}"/>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30210127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E6A55C-F9BD-9AA8-DC5E-66362B0855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83E185-FD9A-9F05-53B4-BFEAEAEB44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602395-049C-D9DB-ABE6-E41321A519E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AEA5A15-01DD-F9DA-AD92-43499EF3132A}"/>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8563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0AC457-4987-F64E-4898-A32DA4E9F8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FC25AD-F982-7DA1-1E41-F80D0EE832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3BA54E-CC8D-5D27-82BA-02FF1F40472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85AF371-5BA2-C972-BF64-40A0FD5E6978}"/>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2159324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FBBB3-3D70-044D-B3B5-3AA41F1439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4CC432-2E98-7613-751B-A745C4446C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E15634-A7A0-BAF4-61A1-BAFF67F33D1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6126D14-66AA-99E4-F391-187DFFE93C86}"/>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7061891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2C3E"/>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F4C16"/>
          </a:solidFill>
          <a:ln w="12700">
            <a:solidFill>
              <a:srgbClr val="FF4C16"/>
            </a:solidFill>
            <a:prstDash val="solid"/>
          </a:ln>
        </p:spPr>
      </p:sp>
      <p:sp>
        <p:nvSpPr>
          <p:cNvPr id="3" name="Shape 1"/>
          <p:cNvSpPr/>
          <p:nvPr/>
        </p:nvSpPr>
        <p:spPr>
          <a:xfrm>
            <a:off x="365760" y="1005840"/>
            <a:ext cx="8412480" cy="1371600"/>
          </a:xfrm>
          <a:prstGeom prst="rect">
            <a:avLst/>
          </a:prstGeom>
          <a:solidFill>
            <a:srgbClr val="004A5D"/>
          </a:solidFill>
          <a:ln w="12700">
            <a:solidFill>
              <a:srgbClr val="004A5D"/>
            </a:solidFill>
            <a:prstDash val="solid"/>
          </a:ln>
          <a:effectLst>
            <a:outerShdw blurRad="101600" dist="38100" dir="8100000" algn="bl" rotWithShape="0">
              <a:srgbClr val="000000">
                <a:alpha val="18000"/>
              </a:srgbClr>
            </a:outerShdw>
          </a:effectLst>
        </p:spPr>
      </p:sp>
      <p:sp>
        <p:nvSpPr>
          <p:cNvPr id="4" name="Text 2"/>
          <p:cNvSpPr/>
          <p:nvPr/>
        </p:nvSpPr>
        <p:spPr>
          <a:xfrm>
            <a:off x="365760" y="1005840"/>
            <a:ext cx="8412480" cy="1371600"/>
          </a:xfrm>
          <a:prstGeom prst="rect">
            <a:avLst/>
          </a:prstGeom>
          <a:noFill/>
          <a:ln/>
        </p:spPr>
        <p:txBody>
          <a:bodyPr wrap="square" rtlCol="0" anchor="ctr"/>
          <a:lstStyle/>
          <a:p>
            <a:pPr algn="ctr"/>
            <a:r>
              <a:rPr lang="en-US" sz="4800" b="1" dirty="0">
                <a:solidFill>
                  <a:srgbClr val="B0C4CC"/>
                </a:solidFill>
                <a:latin typeface="Calibri" pitchFamily="34" charset="0"/>
                <a:ea typeface="Calibri" pitchFamily="34" charset="-122"/>
                <a:cs typeface="Calibri" pitchFamily="34" charset="-120"/>
              </a:rPr>
              <a:t>Insurance Analytics</a:t>
            </a:r>
            <a:endParaRPr lang="en-US" sz="4800" b="1" dirty="0"/>
          </a:p>
        </p:txBody>
      </p:sp>
      <p:sp>
        <p:nvSpPr>
          <p:cNvPr id="6" name="Shape 4"/>
          <p:cNvSpPr/>
          <p:nvPr/>
        </p:nvSpPr>
        <p:spPr>
          <a:xfrm>
            <a:off x="365760" y="3200400"/>
            <a:ext cx="8412480" cy="1463040"/>
          </a:xfrm>
          <a:prstGeom prst="rect">
            <a:avLst/>
          </a:prstGeom>
          <a:solidFill>
            <a:srgbClr val="004A5D"/>
          </a:solidFill>
          <a:ln w="12700">
            <a:solidFill>
              <a:srgbClr val="004A5D"/>
            </a:solidFill>
            <a:prstDash val="solid"/>
          </a:ln>
        </p:spPr>
      </p:sp>
      <p:sp>
        <p:nvSpPr>
          <p:cNvPr id="7" name="Text 5"/>
          <p:cNvSpPr/>
          <p:nvPr/>
        </p:nvSpPr>
        <p:spPr>
          <a:xfrm>
            <a:off x="365760" y="3200400"/>
            <a:ext cx="8412480" cy="365760"/>
          </a:xfrm>
          <a:prstGeom prst="rect">
            <a:avLst/>
          </a:prstGeom>
          <a:noFill/>
          <a:ln/>
        </p:spPr>
        <p:txBody>
          <a:bodyPr wrap="square" rtlCol="0" anchor="ctr"/>
          <a:lstStyle/>
          <a:p>
            <a:pPr marL="0" indent="0" algn="ctr">
              <a:buNone/>
            </a:pPr>
            <a:r>
              <a:rPr lang="en-US" sz="1300" b="1" dirty="0">
                <a:solidFill>
                  <a:srgbClr val="FF4C16"/>
                </a:solidFill>
                <a:latin typeface="Calibri" pitchFamily="34" charset="0"/>
                <a:ea typeface="Calibri" pitchFamily="34" charset="-122"/>
                <a:cs typeface="Calibri" pitchFamily="34" charset="-120"/>
              </a:rPr>
              <a:t>Team Members</a:t>
            </a:r>
            <a:endParaRPr lang="en-US" sz="1300" dirty="0"/>
          </a:p>
        </p:txBody>
      </p:sp>
      <p:sp>
        <p:nvSpPr>
          <p:cNvPr id="8" name="Text 6"/>
          <p:cNvSpPr/>
          <p:nvPr/>
        </p:nvSpPr>
        <p:spPr>
          <a:xfrm>
            <a:off x="365760" y="3611880"/>
            <a:ext cx="8412480" cy="457200"/>
          </a:xfrm>
          <a:prstGeom prst="rect">
            <a:avLst/>
          </a:prstGeom>
          <a:noFill/>
          <a:ln/>
        </p:spPr>
        <p:txBody>
          <a:bodyPr wrap="square" rtlCol="0" anchor="ctr"/>
          <a:lstStyle/>
          <a:p>
            <a:pPr algn="ctr"/>
            <a:r>
              <a:rPr lang="en-US" sz="1100" dirty="0" err="1">
                <a:solidFill>
                  <a:srgbClr val="FFFFFF"/>
                </a:solidFill>
                <a:latin typeface="Calibri" pitchFamily="34" charset="0"/>
                <a:ea typeface="Calibri" pitchFamily="34" charset="-122"/>
                <a:cs typeface="Calibri" pitchFamily="34" charset="-120"/>
              </a:rPr>
              <a:t>Donkeshwar</a:t>
            </a:r>
            <a:r>
              <a:rPr lang="en-US" sz="1100" dirty="0">
                <a:solidFill>
                  <a:srgbClr val="FFFFFF"/>
                </a:solidFill>
                <a:latin typeface="Calibri" pitchFamily="34" charset="0"/>
                <a:ea typeface="Calibri" pitchFamily="34" charset="-122"/>
                <a:cs typeface="Calibri" pitchFamily="34" charset="-120"/>
              </a:rPr>
              <a:t> Badrinath  |  Nabeel Mohammed  |  Harinath  |  Avinesh Kumar  |  Faizan  |  Basheer  |  Sadanand </a:t>
            </a:r>
            <a:endParaRPr lang="en-US" sz="1100" dirty="0"/>
          </a:p>
        </p:txBody>
      </p:sp>
      <p:sp>
        <p:nvSpPr>
          <p:cNvPr id="9" name="Shape 7"/>
          <p:cNvSpPr/>
          <p:nvPr/>
        </p:nvSpPr>
        <p:spPr>
          <a:xfrm>
            <a:off x="0" y="4754880"/>
            <a:ext cx="9144000" cy="388620"/>
          </a:xfrm>
          <a:prstGeom prst="rect">
            <a:avLst/>
          </a:prstGeom>
          <a:solidFill>
            <a:srgbClr val="FF4C16"/>
          </a:solidFill>
          <a:ln w="12700">
            <a:solidFill>
              <a:srgbClr val="FF4C16"/>
            </a:solidFill>
            <a:prstDash val="solid"/>
          </a:ln>
        </p:spPr>
      </p:sp>
      <p:sp>
        <p:nvSpPr>
          <p:cNvPr id="10" name="Text 8"/>
          <p:cNvSpPr/>
          <p:nvPr/>
        </p:nvSpPr>
        <p:spPr>
          <a:xfrm>
            <a:off x="0" y="4754880"/>
            <a:ext cx="9144000" cy="388620"/>
          </a:xfrm>
          <a:prstGeom prst="rect">
            <a:avLst/>
          </a:prstGeom>
          <a:noFill/>
          <a:ln/>
        </p:spPr>
        <p:txBody>
          <a:bodyPr wrap="square" rtlCol="0" anchor="ctr"/>
          <a:lstStyle/>
          <a:p>
            <a:pPr marL="0" indent="0" algn="ctr">
              <a:buNone/>
            </a:pPr>
            <a:r>
              <a:rPr lang="en-US" sz="1300" b="1" dirty="0">
                <a:solidFill>
                  <a:srgbClr val="FFFFFF"/>
                </a:solidFill>
              </a:rPr>
              <a:t>Power BI   |   Excel   |   Tableau   |   SQL</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4">
    <p:bg>
      <p:bgPr>
        <a:solidFill>
          <a:srgbClr val="002C3E"/>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FF4C16"/>
          </a:solidFill>
          <a:ln w="12700">
            <a:solidFill>
              <a:srgbClr val="FF4C16"/>
            </a:solidFill>
            <a:prstDash val="solid"/>
          </a:ln>
        </p:spPr>
      </p:sp>
      <p:sp>
        <p:nvSpPr>
          <p:cNvPr id="3" name="Text 1"/>
          <p:cNvSpPr/>
          <p:nvPr/>
        </p:nvSpPr>
        <p:spPr>
          <a:xfrm>
            <a:off x="274320" y="0"/>
            <a:ext cx="8229600" cy="82296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Problem Statement</a:t>
            </a:r>
            <a:endParaRPr lang="en-US" sz="2800" dirty="0"/>
          </a:p>
        </p:txBody>
      </p:sp>
      <p:sp>
        <p:nvSpPr>
          <p:cNvPr id="5" name="Shape 3"/>
          <p:cNvSpPr/>
          <p:nvPr/>
        </p:nvSpPr>
        <p:spPr>
          <a:xfrm>
            <a:off x="365760" y="1600200"/>
            <a:ext cx="8412480" cy="548640"/>
          </a:xfrm>
          <a:prstGeom prst="rect">
            <a:avLst/>
          </a:prstGeom>
          <a:solidFill>
            <a:srgbClr val="004A5D"/>
          </a:solidFill>
          <a:ln w="12700">
            <a:solidFill>
              <a:srgbClr val="004A5D"/>
            </a:solidFill>
            <a:prstDash val="solid"/>
          </a:ln>
        </p:spPr>
      </p:sp>
      <p:sp>
        <p:nvSpPr>
          <p:cNvPr id="6" name="Shape 4"/>
          <p:cNvSpPr/>
          <p:nvPr/>
        </p:nvSpPr>
        <p:spPr>
          <a:xfrm>
            <a:off x="365760" y="1600200"/>
            <a:ext cx="73152" cy="548640"/>
          </a:xfrm>
          <a:prstGeom prst="rect">
            <a:avLst/>
          </a:prstGeom>
          <a:solidFill>
            <a:srgbClr val="FF4C16"/>
          </a:solidFill>
          <a:ln w="12700">
            <a:solidFill>
              <a:srgbClr val="FF4C16"/>
            </a:solidFill>
            <a:prstDash val="solid"/>
          </a:ln>
        </p:spPr>
      </p:sp>
      <p:sp>
        <p:nvSpPr>
          <p:cNvPr id="7" name="Text 5"/>
          <p:cNvSpPr/>
          <p:nvPr/>
        </p:nvSpPr>
        <p:spPr>
          <a:xfrm>
            <a:off x="548640" y="1600200"/>
            <a:ext cx="8046720" cy="548640"/>
          </a:xfrm>
          <a:prstGeom prst="rect">
            <a:avLst/>
          </a:prstGeom>
          <a:noFill/>
          <a:ln/>
        </p:spPr>
        <p:txBody>
          <a:bodyPr wrap="square" rtlCol="0" anchor="ctr"/>
          <a:lstStyle/>
          <a:p>
            <a:r>
              <a:rPr lang="en-IN" sz="1400" dirty="0">
                <a:solidFill>
                  <a:schemeClr val="bg1"/>
                </a:solidFill>
              </a:rPr>
              <a:t>The organization lacked a unified, real-time view to monitor and compare branch-level and individual performance across different business lines (New, Cross-Sell, and Renewal).</a:t>
            </a:r>
            <a:endParaRPr lang="en-US" sz="1400" dirty="0">
              <a:solidFill>
                <a:schemeClr val="bg1"/>
              </a:solidFill>
            </a:endParaRPr>
          </a:p>
        </p:txBody>
      </p:sp>
      <p:sp>
        <p:nvSpPr>
          <p:cNvPr id="8" name="Shape 6"/>
          <p:cNvSpPr/>
          <p:nvPr/>
        </p:nvSpPr>
        <p:spPr>
          <a:xfrm>
            <a:off x="365760" y="2258567"/>
            <a:ext cx="8412480" cy="678113"/>
          </a:xfrm>
          <a:prstGeom prst="rect">
            <a:avLst/>
          </a:prstGeom>
          <a:solidFill>
            <a:srgbClr val="004A5D"/>
          </a:solidFill>
          <a:ln w="12700">
            <a:solidFill>
              <a:srgbClr val="004A5D"/>
            </a:solidFill>
            <a:prstDash val="solid"/>
          </a:ln>
        </p:spPr>
      </p:sp>
      <p:sp>
        <p:nvSpPr>
          <p:cNvPr id="9" name="Shape 7"/>
          <p:cNvSpPr/>
          <p:nvPr/>
        </p:nvSpPr>
        <p:spPr>
          <a:xfrm>
            <a:off x="365760" y="2258568"/>
            <a:ext cx="73152" cy="548640"/>
          </a:xfrm>
          <a:prstGeom prst="rect">
            <a:avLst/>
          </a:prstGeom>
          <a:solidFill>
            <a:srgbClr val="FF4C16"/>
          </a:solidFill>
          <a:ln w="12700">
            <a:solidFill>
              <a:srgbClr val="FF4C16"/>
            </a:solidFill>
            <a:prstDash val="solid"/>
          </a:ln>
        </p:spPr>
      </p:sp>
      <p:sp>
        <p:nvSpPr>
          <p:cNvPr id="10" name="Text 8"/>
          <p:cNvSpPr/>
          <p:nvPr/>
        </p:nvSpPr>
        <p:spPr>
          <a:xfrm>
            <a:off x="506251" y="2308589"/>
            <a:ext cx="8046720" cy="548640"/>
          </a:xfrm>
          <a:prstGeom prst="rect">
            <a:avLst/>
          </a:prstGeom>
          <a:noFill/>
          <a:ln/>
        </p:spPr>
        <p:txBody>
          <a:bodyPr wrap="square" rtlCol="0" anchor="ctr"/>
          <a:lstStyle/>
          <a:p>
            <a:r>
              <a:rPr lang="en-IN" sz="1400" dirty="0">
                <a:solidFill>
                  <a:schemeClr val="bg1"/>
                </a:solidFill>
              </a:rPr>
              <a:t>Decision-makers faced heavy roadblocks due to fragmented data scattered across Excel sheets and CRM databases, making it difficult to track sales pipelines, align targets with actual achievements, or identify performance bottlenecks.</a:t>
            </a:r>
            <a:endParaRPr lang="en-US" sz="1400" dirty="0">
              <a:solidFill>
                <a:schemeClr val="bg1"/>
              </a:solidFill>
            </a:endParaRPr>
          </a:p>
        </p:txBody>
      </p:sp>
      <p:sp>
        <p:nvSpPr>
          <p:cNvPr id="11" name="Shape 9"/>
          <p:cNvSpPr/>
          <p:nvPr/>
        </p:nvSpPr>
        <p:spPr>
          <a:xfrm>
            <a:off x="362248" y="3091400"/>
            <a:ext cx="8412480" cy="548640"/>
          </a:xfrm>
          <a:prstGeom prst="rect">
            <a:avLst/>
          </a:prstGeom>
          <a:solidFill>
            <a:srgbClr val="004A5D"/>
          </a:solidFill>
          <a:ln w="12700">
            <a:solidFill>
              <a:srgbClr val="004A5D"/>
            </a:solidFill>
            <a:prstDash val="solid"/>
          </a:ln>
        </p:spPr>
      </p:sp>
      <p:sp>
        <p:nvSpPr>
          <p:cNvPr id="12" name="Shape 10"/>
          <p:cNvSpPr/>
          <p:nvPr/>
        </p:nvSpPr>
        <p:spPr>
          <a:xfrm>
            <a:off x="362248" y="3091400"/>
            <a:ext cx="73152" cy="548640"/>
          </a:xfrm>
          <a:prstGeom prst="rect">
            <a:avLst/>
          </a:prstGeom>
          <a:solidFill>
            <a:srgbClr val="FF4C16"/>
          </a:solidFill>
          <a:ln w="12700">
            <a:solidFill>
              <a:srgbClr val="FF4C16"/>
            </a:solidFill>
            <a:prstDash val="solid"/>
          </a:ln>
        </p:spPr>
      </p:sp>
      <p:sp>
        <p:nvSpPr>
          <p:cNvPr id="13" name="Text 11"/>
          <p:cNvSpPr/>
          <p:nvPr/>
        </p:nvSpPr>
        <p:spPr>
          <a:xfrm>
            <a:off x="506251" y="3085920"/>
            <a:ext cx="8046720" cy="548640"/>
          </a:xfrm>
          <a:prstGeom prst="rect">
            <a:avLst/>
          </a:prstGeom>
          <a:noFill/>
          <a:ln/>
        </p:spPr>
        <p:txBody>
          <a:bodyPr wrap="square" rtlCol="0" anchor="ctr"/>
          <a:lstStyle/>
          <a:p>
            <a:r>
              <a:rPr lang="en-IN" sz="1400" dirty="0">
                <a:solidFill>
                  <a:schemeClr val="bg1"/>
                </a:solidFill>
              </a:rPr>
              <a:t>This lack of visibility caused delayed reporting, misaligned goals, and lost opportunities for strategic coaching and growth.</a:t>
            </a:r>
            <a:endParaRPr lang="en-US" sz="1400" dirty="0">
              <a:solidFill>
                <a:schemeClr val="bg1"/>
              </a:solidFill>
            </a:endParaRPr>
          </a:p>
        </p:txBody>
      </p:sp>
      <p:sp>
        <p:nvSpPr>
          <p:cNvPr id="16" name="Text 14"/>
          <p:cNvSpPr/>
          <p:nvPr/>
        </p:nvSpPr>
        <p:spPr>
          <a:xfrm>
            <a:off x="548640" y="3575304"/>
            <a:ext cx="8046720" cy="548640"/>
          </a:xfrm>
          <a:prstGeom prst="rect">
            <a:avLst/>
          </a:prstGeom>
          <a:noFill/>
          <a:ln/>
        </p:spPr>
        <p:txBody>
          <a:bodyPr wrap="square" rtlCol="0" anchor="ctr"/>
          <a:lstStyle/>
          <a:p>
            <a:pPr marL="0" indent="0">
              <a:buNone/>
            </a:pPr>
            <a:endParaRPr lang="en-US" sz="1200" dirty="0"/>
          </a:p>
        </p:txBody>
      </p:sp>
      <p:sp>
        <p:nvSpPr>
          <p:cNvPr id="19" name="Text 17"/>
          <p:cNvSpPr/>
          <p:nvPr/>
        </p:nvSpPr>
        <p:spPr>
          <a:xfrm>
            <a:off x="548640" y="4233672"/>
            <a:ext cx="8046720" cy="548640"/>
          </a:xfrm>
          <a:prstGeom prst="rect">
            <a:avLst/>
          </a:prstGeom>
          <a:noFill/>
          <a:ln/>
        </p:spPr>
        <p:txBody>
          <a:bodyPr wrap="square" rtlCol="0" anchor="ctr"/>
          <a:lstStyle/>
          <a:p>
            <a:pPr marL="0" indent="0">
              <a:buNone/>
            </a:pP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2C3E"/>
        </a:solidFill>
        <a:effectLst/>
      </p:bgPr>
    </p:bg>
    <p:spTree>
      <p:nvGrpSpPr>
        <p:cNvPr id="1" name="">
          <a:extLst>
            <a:ext uri="{FF2B5EF4-FFF2-40B4-BE49-F238E27FC236}">
              <a16:creationId xmlns:a16="http://schemas.microsoft.com/office/drawing/2014/main" id="{478E73B1-9C6F-4D15-A0A1-98A69CE8641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DD29D40-F893-4E58-A395-D63457A32129}"/>
              </a:ext>
            </a:extLst>
          </p:cNvPr>
          <p:cNvSpPr/>
          <p:nvPr/>
        </p:nvSpPr>
        <p:spPr>
          <a:xfrm>
            <a:off x="0" y="0"/>
            <a:ext cx="9144000" cy="822960"/>
          </a:xfrm>
          <a:prstGeom prst="rect">
            <a:avLst/>
          </a:prstGeom>
          <a:solidFill>
            <a:srgbClr val="FF4C16"/>
          </a:solidFill>
          <a:ln w="12700">
            <a:solidFill>
              <a:srgbClr val="FF4C16"/>
            </a:solidFill>
            <a:prstDash val="solid"/>
          </a:ln>
        </p:spPr>
      </p:sp>
      <p:sp>
        <p:nvSpPr>
          <p:cNvPr id="3" name="Text 1">
            <a:extLst>
              <a:ext uri="{FF2B5EF4-FFF2-40B4-BE49-F238E27FC236}">
                <a16:creationId xmlns:a16="http://schemas.microsoft.com/office/drawing/2014/main" id="{D05831E4-920C-5604-E092-4DEC4EC98D02}"/>
              </a:ext>
            </a:extLst>
          </p:cNvPr>
          <p:cNvSpPr/>
          <p:nvPr/>
        </p:nvSpPr>
        <p:spPr>
          <a:xfrm>
            <a:off x="274320" y="0"/>
            <a:ext cx="8229600" cy="822960"/>
          </a:xfrm>
          <a:prstGeom prst="rect">
            <a:avLst/>
          </a:prstGeom>
          <a:noFill/>
          <a:ln/>
        </p:spPr>
        <p:txBody>
          <a:bodyPr wrap="square" rtlCol="0" anchor="ctr"/>
          <a:lstStyle/>
          <a:p>
            <a:r>
              <a:rPr lang="en-IN" sz="2800" b="1" dirty="0">
                <a:solidFill>
                  <a:schemeClr val="bg1"/>
                </a:solidFill>
              </a:rPr>
              <a:t>Project Summary</a:t>
            </a:r>
            <a:endParaRPr lang="en-US" sz="2800" b="1" dirty="0">
              <a:solidFill>
                <a:schemeClr val="bg1"/>
              </a:solidFill>
            </a:endParaRPr>
          </a:p>
        </p:txBody>
      </p:sp>
      <p:sp>
        <p:nvSpPr>
          <p:cNvPr id="5" name="Shape 3">
            <a:extLst>
              <a:ext uri="{FF2B5EF4-FFF2-40B4-BE49-F238E27FC236}">
                <a16:creationId xmlns:a16="http://schemas.microsoft.com/office/drawing/2014/main" id="{002B6654-0C48-E910-98A2-CF986FCEB110}"/>
              </a:ext>
            </a:extLst>
          </p:cNvPr>
          <p:cNvSpPr/>
          <p:nvPr/>
        </p:nvSpPr>
        <p:spPr>
          <a:xfrm>
            <a:off x="365760" y="1600200"/>
            <a:ext cx="8412480" cy="548640"/>
          </a:xfrm>
          <a:prstGeom prst="rect">
            <a:avLst/>
          </a:prstGeom>
          <a:solidFill>
            <a:srgbClr val="004A5D"/>
          </a:solidFill>
          <a:ln w="12700">
            <a:solidFill>
              <a:srgbClr val="004A5D"/>
            </a:solidFill>
            <a:prstDash val="solid"/>
          </a:ln>
        </p:spPr>
      </p:sp>
      <p:sp>
        <p:nvSpPr>
          <p:cNvPr id="6" name="Shape 4">
            <a:extLst>
              <a:ext uri="{FF2B5EF4-FFF2-40B4-BE49-F238E27FC236}">
                <a16:creationId xmlns:a16="http://schemas.microsoft.com/office/drawing/2014/main" id="{6CC295E5-5DB2-B34E-E846-9C24A741DAE6}"/>
              </a:ext>
            </a:extLst>
          </p:cNvPr>
          <p:cNvSpPr/>
          <p:nvPr/>
        </p:nvSpPr>
        <p:spPr>
          <a:xfrm>
            <a:off x="365760" y="1600200"/>
            <a:ext cx="73152" cy="548640"/>
          </a:xfrm>
          <a:prstGeom prst="rect">
            <a:avLst/>
          </a:prstGeom>
          <a:solidFill>
            <a:srgbClr val="FF4C16"/>
          </a:solidFill>
          <a:ln w="12700">
            <a:solidFill>
              <a:srgbClr val="FF4C16"/>
            </a:solidFill>
            <a:prstDash val="solid"/>
          </a:ln>
        </p:spPr>
      </p:sp>
      <p:sp>
        <p:nvSpPr>
          <p:cNvPr id="7" name="Text 5">
            <a:extLst>
              <a:ext uri="{FF2B5EF4-FFF2-40B4-BE49-F238E27FC236}">
                <a16:creationId xmlns:a16="http://schemas.microsoft.com/office/drawing/2014/main" id="{AF812C0E-B362-1A83-FD94-635C42FBAC77}"/>
              </a:ext>
            </a:extLst>
          </p:cNvPr>
          <p:cNvSpPr/>
          <p:nvPr/>
        </p:nvSpPr>
        <p:spPr>
          <a:xfrm>
            <a:off x="548640" y="1600200"/>
            <a:ext cx="8046720" cy="548640"/>
          </a:xfrm>
          <a:prstGeom prst="rect">
            <a:avLst/>
          </a:prstGeom>
          <a:noFill/>
          <a:ln/>
        </p:spPr>
        <p:txBody>
          <a:bodyPr wrap="square" rtlCol="0" anchor="ctr"/>
          <a:lstStyle/>
          <a:p>
            <a:r>
              <a:rPr lang="en-IN" sz="1400" dirty="0">
                <a:solidFill>
                  <a:schemeClr val="bg1"/>
                </a:solidFill>
              </a:rPr>
              <a:t>Developed an end-to-end insurance analytics solution utilizing Excel, SQL databases, Tableau, and Power BI to centralize diverse data sources like brokerage records, fees, meetings, invoices, and CRM opportunities.</a:t>
            </a:r>
            <a:endParaRPr lang="en-US" sz="1400" dirty="0">
              <a:solidFill>
                <a:schemeClr val="bg1"/>
              </a:solidFill>
            </a:endParaRPr>
          </a:p>
        </p:txBody>
      </p:sp>
      <p:sp>
        <p:nvSpPr>
          <p:cNvPr id="8" name="Shape 6">
            <a:extLst>
              <a:ext uri="{FF2B5EF4-FFF2-40B4-BE49-F238E27FC236}">
                <a16:creationId xmlns:a16="http://schemas.microsoft.com/office/drawing/2014/main" id="{451701ED-3BE4-9870-3022-A2AD1DCFB8F1}"/>
              </a:ext>
            </a:extLst>
          </p:cNvPr>
          <p:cNvSpPr/>
          <p:nvPr/>
        </p:nvSpPr>
        <p:spPr>
          <a:xfrm>
            <a:off x="365760" y="2258567"/>
            <a:ext cx="8412480" cy="678113"/>
          </a:xfrm>
          <a:prstGeom prst="rect">
            <a:avLst/>
          </a:prstGeom>
          <a:solidFill>
            <a:srgbClr val="004A5D"/>
          </a:solidFill>
          <a:ln w="12700">
            <a:solidFill>
              <a:srgbClr val="004A5D"/>
            </a:solidFill>
            <a:prstDash val="solid"/>
          </a:ln>
        </p:spPr>
      </p:sp>
      <p:sp>
        <p:nvSpPr>
          <p:cNvPr id="9" name="Shape 7">
            <a:extLst>
              <a:ext uri="{FF2B5EF4-FFF2-40B4-BE49-F238E27FC236}">
                <a16:creationId xmlns:a16="http://schemas.microsoft.com/office/drawing/2014/main" id="{9BA11712-42BF-73FE-6EF1-60C6D5B49DDA}"/>
              </a:ext>
            </a:extLst>
          </p:cNvPr>
          <p:cNvSpPr/>
          <p:nvPr/>
        </p:nvSpPr>
        <p:spPr>
          <a:xfrm>
            <a:off x="365760" y="2258568"/>
            <a:ext cx="73152" cy="548640"/>
          </a:xfrm>
          <a:prstGeom prst="rect">
            <a:avLst/>
          </a:prstGeom>
          <a:solidFill>
            <a:srgbClr val="FF4C16"/>
          </a:solidFill>
          <a:ln w="12700">
            <a:solidFill>
              <a:srgbClr val="FF4C16"/>
            </a:solidFill>
            <a:prstDash val="solid"/>
          </a:ln>
        </p:spPr>
      </p:sp>
      <p:sp>
        <p:nvSpPr>
          <p:cNvPr id="10" name="Text 8">
            <a:extLst>
              <a:ext uri="{FF2B5EF4-FFF2-40B4-BE49-F238E27FC236}">
                <a16:creationId xmlns:a16="http://schemas.microsoft.com/office/drawing/2014/main" id="{55A06B2F-F3F8-FE3C-F48F-AE199CB04F11}"/>
              </a:ext>
            </a:extLst>
          </p:cNvPr>
          <p:cNvSpPr/>
          <p:nvPr/>
        </p:nvSpPr>
        <p:spPr>
          <a:xfrm>
            <a:off x="506251" y="2308589"/>
            <a:ext cx="8046720" cy="548640"/>
          </a:xfrm>
          <a:prstGeom prst="rect">
            <a:avLst/>
          </a:prstGeom>
          <a:noFill/>
          <a:ln/>
        </p:spPr>
        <p:txBody>
          <a:bodyPr wrap="square" rtlCol="0" anchor="ctr"/>
          <a:lstStyle/>
          <a:p>
            <a:r>
              <a:rPr lang="en-IN" sz="1400" dirty="0">
                <a:solidFill>
                  <a:schemeClr val="bg1"/>
                </a:solidFill>
              </a:rPr>
              <a:t>Enabled comprehensive tracking of 35 core KPIs spanning performance, pipelines, activities, billing, and policy health to drive accountability and data-driven decision-making.</a:t>
            </a:r>
            <a:endParaRPr lang="en-US" sz="1400" dirty="0">
              <a:solidFill>
                <a:schemeClr val="bg1"/>
              </a:solidFill>
            </a:endParaRPr>
          </a:p>
        </p:txBody>
      </p:sp>
      <p:sp>
        <p:nvSpPr>
          <p:cNvPr id="11" name="Shape 9">
            <a:extLst>
              <a:ext uri="{FF2B5EF4-FFF2-40B4-BE49-F238E27FC236}">
                <a16:creationId xmlns:a16="http://schemas.microsoft.com/office/drawing/2014/main" id="{5C432AC0-D671-550E-370B-6EDCFA3EEA44}"/>
              </a:ext>
            </a:extLst>
          </p:cNvPr>
          <p:cNvSpPr/>
          <p:nvPr/>
        </p:nvSpPr>
        <p:spPr>
          <a:xfrm>
            <a:off x="362248" y="3091400"/>
            <a:ext cx="8412480" cy="548640"/>
          </a:xfrm>
          <a:prstGeom prst="rect">
            <a:avLst/>
          </a:prstGeom>
          <a:solidFill>
            <a:srgbClr val="004A5D"/>
          </a:solidFill>
          <a:ln w="12700">
            <a:solidFill>
              <a:srgbClr val="004A5D"/>
            </a:solidFill>
            <a:prstDash val="solid"/>
          </a:ln>
        </p:spPr>
      </p:sp>
      <p:sp>
        <p:nvSpPr>
          <p:cNvPr id="12" name="Shape 10">
            <a:extLst>
              <a:ext uri="{FF2B5EF4-FFF2-40B4-BE49-F238E27FC236}">
                <a16:creationId xmlns:a16="http://schemas.microsoft.com/office/drawing/2014/main" id="{ABD658E7-F741-A31F-B279-4223BCE4554C}"/>
              </a:ext>
            </a:extLst>
          </p:cNvPr>
          <p:cNvSpPr/>
          <p:nvPr/>
        </p:nvSpPr>
        <p:spPr>
          <a:xfrm>
            <a:off x="362248" y="3091400"/>
            <a:ext cx="73152" cy="548640"/>
          </a:xfrm>
          <a:prstGeom prst="rect">
            <a:avLst/>
          </a:prstGeom>
          <a:solidFill>
            <a:srgbClr val="FF4C16"/>
          </a:solidFill>
          <a:ln w="12700">
            <a:solidFill>
              <a:srgbClr val="FF4C16"/>
            </a:solidFill>
            <a:prstDash val="solid"/>
          </a:ln>
        </p:spPr>
      </p:sp>
      <p:sp>
        <p:nvSpPr>
          <p:cNvPr id="13" name="Text 11">
            <a:extLst>
              <a:ext uri="{FF2B5EF4-FFF2-40B4-BE49-F238E27FC236}">
                <a16:creationId xmlns:a16="http://schemas.microsoft.com/office/drawing/2014/main" id="{06DF25BC-8B05-5DD8-0041-E8AE341A0693}"/>
              </a:ext>
            </a:extLst>
          </p:cNvPr>
          <p:cNvSpPr/>
          <p:nvPr/>
        </p:nvSpPr>
        <p:spPr>
          <a:xfrm>
            <a:off x="506251" y="3085920"/>
            <a:ext cx="8046720" cy="548640"/>
          </a:xfrm>
          <a:prstGeom prst="rect">
            <a:avLst/>
          </a:prstGeom>
          <a:noFill/>
          <a:ln/>
        </p:spPr>
        <p:txBody>
          <a:bodyPr wrap="square" rtlCol="0" anchor="ctr"/>
          <a:lstStyle/>
          <a:p>
            <a:r>
              <a:rPr lang="en-IN" sz="1400" dirty="0">
                <a:solidFill>
                  <a:schemeClr val="bg1"/>
                </a:solidFill>
              </a:rPr>
              <a:t>Empowered corporate teams and branch heads with interactive dashboards for real-time visibility into revenue targets, sales funnel efficiency, and customer segment profitability.</a:t>
            </a:r>
            <a:endParaRPr lang="en-US" sz="1400" dirty="0">
              <a:solidFill>
                <a:schemeClr val="bg1"/>
              </a:solidFill>
            </a:endParaRPr>
          </a:p>
        </p:txBody>
      </p:sp>
      <p:sp>
        <p:nvSpPr>
          <p:cNvPr id="16" name="Text 14">
            <a:extLst>
              <a:ext uri="{FF2B5EF4-FFF2-40B4-BE49-F238E27FC236}">
                <a16:creationId xmlns:a16="http://schemas.microsoft.com/office/drawing/2014/main" id="{F1EEDDDA-EB61-4F11-1A09-A73D06F0C39A}"/>
              </a:ext>
            </a:extLst>
          </p:cNvPr>
          <p:cNvSpPr/>
          <p:nvPr/>
        </p:nvSpPr>
        <p:spPr>
          <a:xfrm>
            <a:off x="548640" y="3575304"/>
            <a:ext cx="8046720" cy="548640"/>
          </a:xfrm>
          <a:prstGeom prst="rect">
            <a:avLst/>
          </a:prstGeom>
          <a:noFill/>
          <a:ln/>
        </p:spPr>
        <p:txBody>
          <a:bodyPr wrap="square" rtlCol="0" anchor="ctr"/>
          <a:lstStyle/>
          <a:p>
            <a:pPr marL="0" indent="0">
              <a:buNone/>
            </a:pPr>
            <a:endParaRPr lang="en-US" sz="1200" dirty="0"/>
          </a:p>
        </p:txBody>
      </p:sp>
      <p:sp>
        <p:nvSpPr>
          <p:cNvPr id="19" name="Text 17">
            <a:extLst>
              <a:ext uri="{FF2B5EF4-FFF2-40B4-BE49-F238E27FC236}">
                <a16:creationId xmlns:a16="http://schemas.microsoft.com/office/drawing/2014/main" id="{206C839B-51CE-6311-E4A1-AE8638E8D9E0}"/>
              </a:ext>
            </a:extLst>
          </p:cNvPr>
          <p:cNvSpPr/>
          <p:nvPr/>
        </p:nvSpPr>
        <p:spPr>
          <a:xfrm>
            <a:off x="548640" y="4233672"/>
            <a:ext cx="8046720" cy="548640"/>
          </a:xfrm>
          <a:prstGeom prst="rect">
            <a:avLst/>
          </a:prstGeom>
          <a:noFill/>
          <a:ln/>
        </p:spPr>
        <p:txBody>
          <a:bodyPr wrap="square" rtlCol="0" anchor="ctr"/>
          <a:lstStyle/>
          <a:p>
            <a:pPr marL="0" indent="0">
              <a:buNone/>
            </a:pPr>
            <a:endParaRPr lang="en-US" sz="1200" dirty="0"/>
          </a:p>
        </p:txBody>
      </p:sp>
    </p:spTree>
    <p:extLst>
      <p:ext uri="{BB962C8B-B14F-4D97-AF65-F5344CB8AC3E}">
        <p14:creationId xmlns:p14="http://schemas.microsoft.com/office/powerpoint/2010/main" val="41198605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9">
    <p:bg>
      <p:bgPr>
        <a:solidFill>
          <a:srgbClr val="002C3E"/>
        </a:solidFill>
        <a:effectLst/>
      </p:bgPr>
    </p:bg>
    <p:spTree>
      <p:nvGrpSpPr>
        <p:cNvPr id="1" name=""/>
        <p:cNvGrpSpPr/>
        <p:nvPr/>
      </p:nvGrpSpPr>
      <p:grpSpPr>
        <a:xfrm>
          <a:off x="0" y="0"/>
          <a:ext cx="0" cy="0"/>
          <a:chOff x="0" y="0"/>
          <a:chExt cx="0" cy="0"/>
        </a:xfrm>
      </p:grpSpPr>
      <p:sp>
        <p:nvSpPr>
          <p:cNvPr id="3" name="Text 1"/>
          <p:cNvSpPr/>
          <p:nvPr/>
        </p:nvSpPr>
        <p:spPr>
          <a:xfrm>
            <a:off x="274320" y="0"/>
            <a:ext cx="8595360" cy="82296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Power BI – Dashboard </a:t>
            </a:r>
            <a:endParaRPr lang="en-US" sz="2800" dirty="0"/>
          </a:p>
        </p:txBody>
      </p:sp>
      <p:pic>
        <p:nvPicPr>
          <p:cNvPr id="7" name="Picture 6">
            <a:extLst>
              <a:ext uri="{FF2B5EF4-FFF2-40B4-BE49-F238E27FC236}">
                <a16:creationId xmlns:a16="http://schemas.microsoft.com/office/drawing/2014/main" id="{825480CA-512B-00AE-E766-D9D115385ACD}"/>
              </a:ext>
            </a:extLst>
          </p:cNvPr>
          <p:cNvPicPr>
            <a:picLocks noChangeAspect="1"/>
          </p:cNvPicPr>
          <p:nvPr/>
        </p:nvPicPr>
        <p:blipFill>
          <a:blip r:embed="rId3"/>
          <a:stretch>
            <a:fillRect/>
          </a:stretch>
        </p:blipFill>
        <p:spPr>
          <a:xfrm>
            <a:off x="42388" y="822960"/>
            <a:ext cx="9047111" cy="426982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2C3E"/>
        </a:solidFill>
        <a:effectLst/>
      </p:bgPr>
    </p:bg>
    <p:spTree>
      <p:nvGrpSpPr>
        <p:cNvPr id="1" name="">
          <a:extLst>
            <a:ext uri="{FF2B5EF4-FFF2-40B4-BE49-F238E27FC236}">
              <a16:creationId xmlns:a16="http://schemas.microsoft.com/office/drawing/2014/main" id="{49EB44BD-43FF-A60A-6B13-BCB846C5C09C}"/>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948A4A4E-78AA-76F8-4246-0E00D21DDF08}"/>
              </a:ext>
            </a:extLst>
          </p:cNvPr>
          <p:cNvSpPr/>
          <p:nvPr/>
        </p:nvSpPr>
        <p:spPr>
          <a:xfrm>
            <a:off x="274320" y="0"/>
            <a:ext cx="8595360" cy="82296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Tableau – Dashboard </a:t>
            </a:r>
            <a:endParaRPr lang="en-US" sz="2800" dirty="0"/>
          </a:p>
        </p:txBody>
      </p:sp>
      <p:pic>
        <p:nvPicPr>
          <p:cNvPr id="8" name="Picture 7">
            <a:extLst>
              <a:ext uri="{FF2B5EF4-FFF2-40B4-BE49-F238E27FC236}">
                <a16:creationId xmlns:a16="http://schemas.microsoft.com/office/drawing/2014/main" id="{F51992F9-238B-3E0A-DE84-6647D5871A76}"/>
              </a:ext>
            </a:extLst>
          </p:cNvPr>
          <p:cNvPicPr>
            <a:picLocks noChangeAspect="1"/>
          </p:cNvPicPr>
          <p:nvPr/>
        </p:nvPicPr>
        <p:blipFill>
          <a:blip r:embed="rId3"/>
          <a:stretch>
            <a:fillRect/>
          </a:stretch>
        </p:blipFill>
        <p:spPr>
          <a:xfrm>
            <a:off x="63257" y="822960"/>
            <a:ext cx="9017485" cy="4257713"/>
          </a:xfrm>
          <a:prstGeom prst="rect">
            <a:avLst/>
          </a:prstGeom>
        </p:spPr>
      </p:pic>
    </p:spTree>
    <p:extLst>
      <p:ext uri="{BB962C8B-B14F-4D97-AF65-F5344CB8AC3E}">
        <p14:creationId xmlns:p14="http://schemas.microsoft.com/office/powerpoint/2010/main" val="34210384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2C3E"/>
        </a:solidFill>
        <a:effectLst/>
      </p:bgPr>
    </p:bg>
    <p:spTree>
      <p:nvGrpSpPr>
        <p:cNvPr id="1" name="">
          <a:extLst>
            <a:ext uri="{FF2B5EF4-FFF2-40B4-BE49-F238E27FC236}">
              <a16:creationId xmlns:a16="http://schemas.microsoft.com/office/drawing/2014/main" id="{5D94F415-A033-E0F5-DF0A-3C07E3465215}"/>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ED13DB70-3D94-33A1-F642-20DF960AD259}"/>
              </a:ext>
            </a:extLst>
          </p:cNvPr>
          <p:cNvSpPr/>
          <p:nvPr/>
        </p:nvSpPr>
        <p:spPr>
          <a:xfrm>
            <a:off x="274320" y="0"/>
            <a:ext cx="8595360" cy="82296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EXCEL – Dashboard </a:t>
            </a:r>
            <a:endParaRPr lang="en-US" sz="2800" dirty="0"/>
          </a:p>
        </p:txBody>
      </p:sp>
      <p:pic>
        <p:nvPicPr>
          <p:cNvPr id="5" name="Picture 4">
            <a:extLst>
              <a:ext uri="{FF2B5EF4-FFF2-40B4-BE49-F238E27FC236}">
                <a16:creationId xmlns:a16="http://schemas.microsoft.com/office/drawing/2014/main" id="{99D83AA6-87FE-25FC-B8CB-CCE4A3EE078E}"/>
              </a:ext>
            </a:extLst>
          </p:cNvPr>
          <p:cNvPicPr>
            <a:picLocks noChangeAspect="1"/>
          </p:cNvPicPr>
          <p:nvPr/>
        </p:nvPicPr>
        <p:blipFill>
          <a:blip r:embed="rId3"/>
          <a:stretch>
            <a:fillRect/>
          </a:stretch>
        </p:blipFill>
        <p:spPr>
          <a:xfrm>
            <a:off x="42388" y="822960"/>
            <a:ext cx="9047111" cy="4275880"/>
          </a:xfrm>
          <a:prstGeom prst="rect">
            <a:avLst/>
          </a:prstGeom>
        </p:spPr>
      </p:pic>
    </p:spTree>
    <p:extLst>
      <p:ext uri="{BB962C8B-B14F-4D97-AF65-F5344CB8AC3E}">
        <p14:creationId xmlns:p14="http://schemas.microsoft.com/office/powerpoint/2010/main" val="34094217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0F4F5"/>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2C3E"/>
          </a:solidFill>
          <a:ln w="12700">
            <a:solidFill>
              <a:srgbClr val="002C3E"/>
            </a:solidFill>
            <a:prstDash val="solid"/>
          </a:ln>
        </p:spPr>
      </p:sp>
      <p:sp>
        <p:nvSpPr>
          <p:cNvPr id="3" name="Text 1"/>
          <p:cNvSpPr/>
          <p:nvPr/>
        </p:nvSpPr>
        <p:spPr>
          <a:xfrm>
            <a:off x="274320" y="0"/>
            <a:ext cx="8229600" cy="82296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SQL — KPI Queries</a:t>
            </a:r>
            <a:endParaRPr lang="en-US" sz="2800" dirty="0"/>
          </a:p>
        </p:txBody>
      </p:sp>
      <p:sp>
        <p:nvSpPr>
          <p:cNvPr id="4" name="Shape 2"/>
          <p:cNvSpPr/>
          <p:nvPr/>
        </p:nvSpPr>
        <p:spPr>
          <a:xfrm>
            <a:off x="228600" y="960120"/>
            <a:ext cx="2788920" cy="1828800"/>
          </a:xfrm>
          <a:prstGeom prst="rect">
            <a:avLst/>
          </a:prstGeom>
          <a:solidFill>
            <a:srgbClr val="002C3E"/>
          </a:solidFill>
          <a:ln w="12700">
            <a:solidFill>
              <a:srgbClr val="004A5D"/>
            </a:solidFill>
            <a:prstDash val="solid"/>
          </a:ln>
          <a:effectLst>
            <a:outerShdw blurRad="101600" dist="38100" dir="8100000" algn="bl" rotWithShape="0">
              <a:srgbClr val="000000">
                <a:alpha val="18000"/>
              </a:srgbClr>
            </a:outerShdw>
          </a:effectLst>
        </p:spPr>
      </p:sp>
      <p:sp>
        <p:nvSpPr>
          <p:cNvPr id="5" name="Shape 3"/>
          <p:cNvSpPr/>
          <p:nvPr/>
        </p:nvSpPr>
        <p:spPr>
          <a:xfrm>
            <a:off x="228600" y="960120"/>
            <a:ext cx="2788920" cy="365760"/>
          </a:xfrm>
          <a:prstGeom prst="rect">
            <a:avLst/>
          </a:prstGeom>
          <a:solidFill>
            <a:srgbClr val="004A5D"/>
          </a:solidFill>
          <a:ln w="12700">
            <a:solidFill>
              <a:srgbClr val="004A5D"/>
            </a:solidFill>
            <a:prstDash val="solid"/>
          </a:ln>
        </p:spPr>
      </p:sp>
      <p:sp>
        <p:nvSpPr>
          <p:cNvPr id="6" name="Text 4"/>
          <p:cNvSpPr/>
          <p:nvPr/>
        </p:nvSpPr>
        <p:spPr>
          <a:xfrm>
            <a:off x="274320" y="960120"/>
            <a:ext cx="2697480" cy="365760"/>
          </a:xfrm>
          <a:prstGeom prst="rect">
            <a:avLst/>
          </a:prstGeom>
          <a:noFill/>
          <a:ln/>
        </p:spPr>
        <p:txBody>
          <a:bodyPr wrap="square" rtlCol="0" anchor="ctr"/>
          <a:lstStyle/>
          <a:p>
            <a:r>
              <a:rPr lang="en-US" sz="1000" b="1" dirty="0">
                <a:solidFill>
                  <a:srgbClr val="FF4C16"/>
                </a:solidFill>
              </a:rPr>
              <a:t>-- 1 Total Policy</a:t>
            </a:r>
            <a:endParaRPr lang="en-US" sz="1000" dirty="0"/>
          </a:p>
        </p:txBody>
      </p:sp>
      <p:sp>
        <p:nvSpPr>
          <p:cNvPr id="7" name="Text 5"/>
          <p:cNvSpPr/>
          <p:nvPr/>
        </p:nvSpPr>
        <p:spPr>
          <a:xfrm>
            <a:off x="301752" y="1371600"/>
            <a:ext cx="2651760" cy="1371600"/>
          </a:xfrm>
          <a:prstGeom prst="rect">
            <a:avLst/>
          </a:prstGeom>
          <a:noFill/>
          <a:ln/>
        </p:spPr>
        <p:txBody>
          <a:bodyPr wrap="square" rtlCol="0" anchor="t"/>
          <a:lstStyle/>
          <a:p>
            <a:r>
              <a:rPr lang="en-US" sz="900" dirty="0">
                <a:solidFill>
                  <a:srgbClr val="B0C4CC"/>
                </a:solidFill>
                <a:latin typeface="Consolas" pitchFamily="34" charset="0"/>
                <a:ea typeface="Consolas" pitchFamily="34" charset="-122"/>
                <a:cs typeface="Consolas" pitchFamily="34" charset="-120"/>
              </a:rPr>
              <a:t>SELECT COUNT(</a:t>
            </a:r>
            <a:r>
              <a:rPr lang="en-US" sz="900" dirty="0" err="1">
                <a:solidFill>
                  <a:srgbClr val="B0C4CC"/>
                </a:solidFill>
                <a:latin typeface="Consolas" pitchFamily="34" charset="0"/>
                <a:ea typeface="Consolas" pitchFamily="34" charset="-122"/>
                <a:cs typeface="Consolas" pitchFamily="34" charset="-120"/>
              </a:rPr>
              <a:t>policy_number</a:t>
            </a:r>
            <a:r>
              <a:rPr lang="en-US" sz="900" dirty="0">
                <a:solidFill>
                  <a:srgbClr val="B0C4CC"/>
                </a:solidFill>
                <a:latin typeface="Consolas" pitchFamily="34" charset="0"/>
                <a:ea typeface="Consolas" pitchFamily="34" charset="-122"/>
                <a:cs typeface="Consolas" pitchFamily="34" charset="-120"/>
              </a:rPr>
              <a:t>) AS </a:t>
            </a:r>
            <a:r>
              <a:rPr lang="en-US" sz="900" dirty="0" err="1">
                <a:solidFill>
                  <a:srgbClr val="B0C4CC"/>
                </a:solidFill>
                <a:latin typeface="Consolas" pitchFamily="34" charset="0"/>
                <a:ea typeface="Consolas" pitchFamily="34" charset="-122"/>
                <a:cs typeface="Consolas" pitchFamily="34" charset="-120"/>
              </a:rPr>
              <a:t>Total_Policies</a:t>
            </a:r>
            <a:r>
              <a:rPr lang="en-US" sz="900" dirty="0">
                <a:solidFill>
                  <a:srgbClr val="B0C4CC"/>
                </a:solidFill>
                <a:latin typeface="Consolas" pitchFamily="34" charset="0"/>
                <a:ea typeface="Consolas" pitchFamily="34" charset="-122"/>
                <a:cs typeface="Consolas" pitchFamily="34" charset="-120"/>
              </a:rPr>
              <a:t> FROM </a:t>
            </a:r>
            <a:r>
              <a:rPr lang="en-US" sz="900" dirty="0" err="1">
                <a:solidFill>
                  <a:srgbClr val="B0C4CC"/>
                </a:solidFill>
                <a:latin typeface="Consolas" pitchFamily="34" charset="0"/>
                <a:ea typeface="Consolas" pitchFamily="34" charset="-122"/>
                <a:cs typeface="Consolas" pitchFamily="34" charset="-120"/>
              </a:rPr>
              <a:t>dim_policy</a:t>
            </a:r>
            <a:r>
              <a:rPr lang="en-US" sz="900" dirty="0">
                <a:solidFill>
                  <a:srgbClr val="B0C4CC"/>
                </a:solidFill>
                <a:latin typeface="Consolas" pitchFamily="34" charset="0"/>
                <a:ea typeface="Consolas" pitchFamily="34" charset="-122"/>
                <a:cs typeface="Consolas" pitchFamily="34" charset="-120"/>
              </a:rPr>
              <a:t>;</a:t>
            </a:r>
            <a:endParaRPr lang="en-US" sz="900" dirty="0"/>
          </a:p>
        </p:txBody>
      </p:sp>
      <p:sp>
        <p:nvSpPr>
          <p:cNvPr id="8" name="Shape 6"/>
          <p:cNvSpPr/>
          <p:nvPr/>
        </p:nvSpPr>
        <p:spPr>
          <a:xfrm>
            <a:off x="3200400" y="960120"/>
            <a:ext cx="2788920" cy="1828800"/>
          </a:xfrm>
          <a:prstGeom prst="rect">
            <a:avLst/>
          </a:prstGeom>
          <a:solidFill>
            <a:srgbClr val="002C3E"/>
          </a:solidFill>
          <a:ln w="12700">
            <a:solidFill>
              <a:srgbClr val="004A5D"/>
            </a:solidFill>
            <a:prstDash val="solid"/>
          </a:ln>
          <a:effectLst>
            <a:outerShdw blurRad="101600" dist="38100" dir="8100000" algn="bl" rotWithShape="0">
              <a:srgbClr val="000000">
                <a:alpha val="18000"/>
              </a:srgbClr>
            </a:outerShdw>
          </a:effectLst>
        </p:spPr>
      </p:sp>
      <p:sp>
        <p:nvSpPr>
          <p:cNvPr id="9" name="Shape 7"/>
          <p:cNvSpPr/>
          <p:nvPr/>
        </p:nvSpPr>
        <p:spPr>
          <a:xfrm>
            <a:off x="3200400" y="960120"/>
            <a:ext cx="2788920" cy="365760"/>
          </a:xfrm>
          <a:prstGeom prst="rect">
            <a:avLst/>
          </a:prstGeom>
          <a:solidFill>
            <a:srgbClr val="004A5D"/>
          </a:solidFill>
          <a:ln w="12700">
            <a:solidFill>
              <a:srgbClr val="004A5D"/>
            </a:solidFill>
            <a:prstDash val="solid"/>
          </a:ln>
        </p:spPr>
      </p:sp>
      <p:sp>
        <p:nvSpPr>
          <p:cNvPr id="10" name="Text 8"/>
          <p:cNvSpPr/>
          <p:nvPr/>
        </p:nvSpPr>
        <p:spPr>
          <a:xfrm>
            <a:off x="3246120" y="960120"/>
            <a:ext cx="2697480" cy="365760"/>
          </a:xfrm>
          <a:prstGeom prst="rect">
            <a:avLst/>
          </a:prstGeom>
          <a:noFill/>
          <a:ln/>
        </p:spPr>
        <p:txBody>
          <a:bodyPr wrap="square" rtlCol="0" anchor="ctr"/>
          <a:lstStyle/>
          <a:p>
            <a:r>
              <a:rPr lang="en-US" sz="1000" b="1" dirty="0">
                <a:solidFill>
                  <a:srgbClr val="FF4C16"/>
                </a:solidFill>
              </a:rPr>
              <a:t>-- 2 Total Customers</a:t>
            </a:r>
            <a:endParaRPr lang="en-US" sz="1000" dirty="0"/>
          </a:p>
        </p:txBody>
      </p:sp>
      <p:sp>
        <p:nvSpPr>
          <p:cNvPr id="11" name="Text 9"/>
          <p:cNvSpPr/>
          <p:nvPr/>
        </p:nvSpPr>
        <p:spPr>
          <a:xfrm>
            <a:off x="3273552" y="1371600"/>
            <a:ext cx="2651760" cy="1371600"/>
          </a:xfrm>
          <a:prstGeom prst="rect">
            <a:avLst/>
          </a:prstGeom>
          <a:noFill/>
          <a:ln/>
        </p:spPr>
        <p:txBody>
          <a:bodyPr wrap="square" rtlCol="0" anchor="t"/>
          <a:lstStyle/>
          <a:p>
            <a:r>
              <a:rPr lang="en-US" sz="900" dirty="0">
                <a:solidFill>
                  <a:srgbClr val="B0C4CC"/>
                </a:solidFill>
                <a:latin typeface="Consolas" pitchFamily="34" charset="0"/>
                <a:ea typeface="Consolas" pitchFamily="34" charset="-122"/>
                <a:cs typeface="Consolas" pitchFamily="34" charset="-120"/>
              </a:rPr>
              <a:t>SELECT COUNT(DISTINCT </a:t>
            </a:r>
            <a:r>
              <a:rPr lang="en-US" sz="900" dirty="0" err="1">
                <a:solidFill>
                  <a:srgbClr val="B0C4CC"/>
                </a:solidFill>
                <a:latin typeface="Consolas" pitchFamily="34" charset="0"/>
                <a:ea typeface="Consolas" pitchFamily="34" charset="-122"/>
                <a:cs typeface="Consolas" pitchFamily="34" charset="-120"/>
              </a:rPr>
              <a:t>client_name</a:t>
            </a:r>
            <a:r>
              <a:rPr lang="en-US" sz="900" dirty="0">
                <a:solidFill>
                  <a:srgbClr val="B0C4CC"/>
                </a:solidFill>
                <a:latin typeface="Consolas" pitchFamily="34" charset="0"/>
                <a:ea typeface="Consolas" pitchFamily="34" charset="-122"/>
                <a:cs typeface="Consolas" pitchFamily="34" charset="-120"/>
              </a:rPr>
              <a:t>) AS </a:t>
            </a:r>
            <a:r>
              <a:rPr lang="en-US" sz="900" dirty="0" err="1">
                <a:solidFill>
                  <a:srgbClr val="B0C4CC"/>
                </a:solidFill>
                <a:latin typeface="Consolas" pitchFamily="34" charset="0"/>
                <a:ea typeface="Consolas" pitchFamily="34" charset="-122"/>
                <a:cs typeface="Consolas" pitchFamily="34" charset="-120"/>
              </a:rPr>
              <a:t>Total_Customers</a:t>
            </a:r>
            <a:r>
              <a:rPr lang="en-US" sz="900" dirty="0">
                <a:solidFill>
                  <a:srgbClr val="B0C4CC"/>
                </a:solidFill>
                <a:latin typeface="Consolas" pitchFamily="34" charset="0"/>
                <a:ea typeface="Consolas" pitchFamily="34" charset="-122"/>
                <a:cs typeface="Consolas" pitchFamily="34" charset="-120"/>
              </a:rPr>
              <a:t> FROM </a:t>
            </a:r>
            <a:r>
              <a:rPr lang="en-US" sz="900" dirty="0" err="1">
                <a:solidFill>
                  <a:srgbClr val="B0C4CC"/>
                </a:solidFill>
                <a:latin typeface="Consolas" pitchFamily="34" charset="0"/>
                <a:ea typeface="Consolas" pitchFamily="34" charset="-122"/>
                <a:cs typeface="Consolas" pitchFamily="34" charset="-120"/>
              </a:rPr>
              <a:t>dim_policy</a:t>
            </a:r>
            <a:r>
              <a:rPr lang="en-US" sz="900" dirty="0">
                <a:solidFill>
                  <a:srgbClr val="B0C4CC"/>
                </a:solidFill>
                <a:latin typeface="Consolas" pitchFamily="34" charset="0"/>
                <a:ea typeface="Consolas" pitchFamily="34" charset="-122"/>
                <a:cs typeface="Consolas" pitchFamily="34" charset="-120"/>
              </a:rPr>
              <a:t>;</a:t>
            </a:r>
            <a:endParaRPr lang="en-US" sz="900" dirty="0"/>
          </a:p>
        </p:txBody>
      </p:sp>
      <p:sp>
        <p:nvSpPr>
          <p:cNvPr id="12" name="Shape 10"/>
          <p:cNvSpPr/>
          <p:nvPr/>
        </p:nvSpPr>
        <p:spPr>
          <a:xfrm>
            <a:off x="6172200" y="960120"/>
            <a:ext cx="2788920" cy="1828800"/>
          </a:xfrm>
          <a:prstGeom prst="rect">
            <a:avLst/>
          </a:prstGeom>
          <a:solidFill>
            <a:srgbClr val="002C3E"/>
          </a:solidFill>
          <a:ln w="12700">
            <a:solidFill>
              <a:srgbClr val="004A5D"/>
            </a:solidFill>
            <a:prstDash val="solid"/>
          </a:ln>
          <a:effectLst>
            <a:outerShdw blurRad="101600" dist="38100" dir="8100000" algn="bl" rotWithShape="0">
              <a:srgbClr val="000000">
                <a:alpha val="18000"/>
              </a:srgbClr>
            </a:outerShdw>
          </a:effectLst>
        </p:spPr>
      </p:sp>
      <p:sp>
        <p:nvSpPr>
          <p:cNvPr id="13" name="Shape 11"/>
          <p:cNvSpPr/>
          <p:nvPr/>
        </p:nvSpPr>
        <p:spPr>
          <a:xfrm>
            <a:off x="6172200" y="960120"/>
            <a:ext cx="2788920" cy="365760"/>
          </a:xfrm>
          <a:prstGeom prst="rect">
            <a:avLst/>
          </a:prstGeom>
          <a:solidFill>
            <a:srgbClr val="004A5D"/>
          </a:solidFill>
          <a:ln w="12700">
            <a:solidFill>
              <a:srgbClr val="004A5D"/>
            </a:solidFill>
            <a:prstDash val="solid"/>
          </a:ln>
        </p:spPr>
      </p:sp>
      <p:sp>
        <p:nvSpPr>
          <p:cNvPr id="14" name="Text 12"/>
          <p:cNvSpPr/>
          <p:nvPr/>
        </p:nvSpPr>
        <p:spPr>
          <a:xfrm>
            <a:off x="6217920" y="960120"/>
            <a:ext cx="2697480" cy="365760"/>
          </a:xfrm>
          <a:prstGeom prst="rect">
            <a:avLst/>
          </a:prstGeom>
          <a:noFill/>
          <a:ln/>
        </p:spPr>
        <p:txBody>
          <a:bodyPr wrap="square" rtlCol="0" anchor="ctr"/>
          <a:lstStyle/>
          <a:p>
            <a:r>
              <a:rPr lang="en-US" sz="1000" b="1" dirty="0">
                <a:solidFill>
                  <a:srgbClr val="FF4C16"/>
                </a:solidFill>
              </a:rPr>
              <a:t>-- 3 Age Bucket Wise Policy Count</a:t>
            </a:r>
            <a:endParaRPr lang="en-US" sz="1000" dirty="0"/>
          </a:p>
        </p:txBody>
      </p:sp>
      <p:sp>
        <p:nvSpPr>
          <p:cNvPr id="15" name="Text 13"/>
          <p:cNvSpPr/>
          <p:nvPr/>
        </p:nvSpPr>
        <p:spPr>
          <a:xfrm>
            <a:off x="6245352" y="1371600"/>
            <a:ext cx="2651760" cy="1371600"/>
          </a:xfrm>
          <a:prstGeom prst="rect">
            <a:avLst/>
          </a:prstGeom>
          <a:noFill/>
          <a:ln/>
        </p:spPr>
        <p:txBody>
          <a:bodyPr wrap="square" rtlCol="0" anchor="t"/>
          <a:lstStyle/>
          <a:p>
            <a:r>
              <a:rPr lang="en-US" sz="800" dirty="0">
                <a:solidFill>
                  <a:srgbClr val="B0C4CC"/>
                </a:solidFill>
                <a:latin typeface="Consolas" pitchFamily="34" charset="0"/>
                <a:ea typeface="Consolas" pitchFamily="34" charset="-122"/>
                <a:cs typeface="Consolas" pitchFamily="34" charset="-120"/>
              </a:rPr>
              <a:t>SELECT     CASE         WHEN Age &lt; 30 THEN 'Under 30'        WHEN Age BETWEEN 30 AND 50 THEN '30-50'        ELSE 'Over 50'     END AS </a:t>
            </a:r>
            <a:r>
              <a:rPr lang="en-US" sz="800" dirty="0" err="1">
                <a:solidFill>
                  <a:srgbClr val="B0C4CC"/>
                </a:solidFill>
                <a:latin typeface="Consolas" pitchFamily="34" charset="0"/>
                <a:ea typeface="Consolas" pitchFamily="34" charset="-122"/>
                <a:cs typeface="Consolas" pitchFamily="34" charset="-120"/>
              </a:rPr>
              <a:t>Age_Bucket</a:t>
            </a:r>
            <a:r>
              <a:rPr lang="en-US" sz="800" dirty="0">
                <a:solidFill>
                  <a:srgbClr val="B0C4CC"/>
                </a:solidFill>
                <a:latin typeface="Consolas" pitchFamily="34" charset="0"/>
                <a:ea typeface="Consolas" pitchFamily="34" charset="-122"/>
                <a:cs typeface="Consolas" pitchFamily="34" charset="-120"/>
              </a:rPr>
              <a:t>,    COUNT(Customer ID) AS </a:t>
            </a:r>
            <a:r>
              <a:rPr lang="en-US" sz="800" dirty="0" err="1">
                <a:solidFill>
                  <a:srgbClr val="B0C4CC"/>
                </a:solidFill>
                <a:latin typeface="Consolas" pitchFamily="34" charset="0"/>
                <a:ea typeface="Consolas" pitchFamily="34" charset="-122"/>
                <a:cs typeface="Consolas" pitchFamily="34" charset="-120"/>
              </a:rPr>
              <a:t>Customer_CountFROM</a:t>
            </a:r>
            <a:r>
              <a:rPr lang="en-US" sz="800" dirty="0">
                <a:solidFill>
                  <a:srgbClr val="B0C4CC"/>
                </a:solidFill>
                <a:latin typeface="Consolas" pitchFamily="34" charset="0"/>
                <a:ea typeface="Consolas" pitchFamily="34" charset="-122"/>
                <a:cs typeface="Consolas" pitchFamily="34" charset="-120"/>
              </a:rPr>
              <a:t> customer </a:t>
            </a:r>
            <a:r>
              <a:rPr lang="en-US" sz="800" dirty="0" err="1">
                <a:solidFill>
                  <a:srgbClr val="B0C4CC"/>
                </a:solidFill>
                <a:latin typeface="Consolas" pitchFamily="34" charset="0"/>
                <a:ea typeface="Consolas" pitchFamily="34" charset="-122"/>
                <a:cs typeface="Consolas" pitchFamily="34" charset="-120"/>
              </a:rPr>
              <a:t>informationGROUP</a:t>
            </a:r>
            <a:r>
              <a:rPr lang="en-US" sz="800" dirty="0">
                <a:solidFill>
                  <a:srgbClr val="B0C4CC"/>
                </a:solidFill>
                <a:latin typeface="Consolas" pitchFamily="34" charset="0"/>
                <a:ea typeface="Consolas" pitchFamily="34" charset="-122"/>
                <a:cs typeface="Consolas" pitchFamily="34" charset="-120"/>
              </a:rPr>
              <a:t> BY     CASE         WHEN Age &lt; 30 THEN 'Under 30'        WHEN Age BETWEEN 30 AND 50 THEN '30-50'        ELSE 'Over 50'     END;</a:t>
            </a:r>
            <a:endParaRPr lang="en-US" sz="800" dirty="0"/>
          </a:p>
        </p:txBody>
      </p:sp>
      <p:sp>
        <p:nvSpPr>
          <p:cNvPr id="16" name="Shape 14"/>
          <p:cNvSpPr/>
          <p:nvPr/>
        </p:nvSpPr>
        <p:spPr>
          <a:xfrm>
            <a:off x="228600" y="2971800"/>
            <a:ext cx="2788920" cy="1828800"/>
          </a:xfrm>
          <a:prstGeom prst="rect">
            <a:avLst/>
          </a:prstGeom>
          <a:solidFill>
            <a:srgbClr val="002C3E"/>
          </a:solidFill>
          <a:ln w="12700">
            <a:solidFill>
              <a:srgbClr val="004A5D"/>
            </a:solidFill>
            <a:prstDash val="solid"/>
          </a:ln>
          <a:effectLst>
            <a:outerShdw blurRad="101600" dist="38100" dir="8100000" algn="bl" rotWithShape="0">
              <a:srgbClr val="000000">
                <a:alpha val="18000"/>
              </a:srgbClr>
            </a:outerShdw>
          </a:effectLst>
        </p:spPr>
      </p:sp>
      <p:sp>
        <p:nvSpPr>
          <p:cNvPr id="17" name="Shape 15"/>
          <p:cNvSpPr/>
          <p:nvPr/>
        </p:nvSpPr>
        <p:spPr>
          <a:xfrm>
            <a:off x="228600" y="2971800"/>
            <a:ext cx="2788920" cy="365760"/>
          </a:xfrm>
          <a:prstGeom prst="rect">
            <a:avLst/>
          </a:prstGeom>
          <a:solidFill>
            <a:srgbClr val="004A5D"/>
          </a:solidFill>
          <a:ln w="12700">
            <a:solidFill>
              <a:srgbClr val="004A5D"/>
            </a:solidFill>
            <a:prstDash val="solid"/>
          </a:ln>
        </p:spPr>
      </p:sp>
      <p:sp>
        <p:nvSpPr>
          <p:cNvPr id="18" name="Text 16"/>
          <p:cNvSpPr/>
          <p:nvPr/>
        </p:nvSpPr>
        <p:spPr>
          <a:xfrm>
            <a:off x="274320" y="2971800"/>
            <a:ext cx="2697480" cy="365760"/>
          </a:xfrm>
          <a:prstGeom prst="rect">
            <a:avLst/>
          </a:prstGeom>
          <a:noFill/>
          <a:ln/>
        </p:spPr>
        <p:txBody>
          <a:bodyPr wrap="square" rtlCol="0" anchor="ctr"/>
          <a:lstStyle/>
          <a:p>
            <a:r>
              <a:rPr lang="en-US" sz="1000" b="1" dirty="0">
                <a:solidFill>
                  <a:srgbClr val="FF4C16"/>
                </a:solidFill>
              </a:rPr>
              <a:t>-- 4 Gender Wise Policy Count</a:t>
            </a:r>
            <a:endParaRPr lang="en-US" sz="1000" dirty="0"/>
          </a:p>
        </p:txBody>
      </p:sp>
      <p:sp>
        <p:nvSpPr>
          <p:cNvPr id="19" name="Text 17"/>
          <p:cNvSpPr/>
          <p:nvPr/>
        </p:nvSpPr>
        <p:spPr>
          <a:xfrm>
            <a:off x="301752" y="3383280"/>
            <a:ext cx="2651760" cy="1371600"/>
          </a:xfrm>
          <a:prstGeom prst="rect">
            <a:avLst/>
          </a:prstGeom>
          <a:noFill/>
          <a:ln/>
        </p:spPr>
        <p:txBody>
          <a:bodyPr wrap="square" rtlCol="0" anchor="t"/>
          <a:lstStyle/>
          <a:p>
            <a:r>
              <a:rPr lang="en-US" sz="900" dirty="0">
                <a:solidFill>
                  <a:srgbClr val="B0C4CC"/>
                </a:solidFill>
                <a:latin typeface="Consolas" pitchFamily="34" charset="0"/>
                <a:ea typeface="Consolas" pitchFamily="34" charset="-122"/>
                <a:cs typeface="Consolas" pitchFamily="34" charset="-120"/>
              </a:rPr>
              <a:t>SELECT Gender, COUNT(Customer ID) AS </a:t>
            </a:r>
            <a:r>
              <a:rPr lang="en-US" sz="900" dirty="0" err="1">
                <a:solidFill>
                  <a:srgbClr val="B0C4CC"/>
                </a:solidFill>
                <a:latin typeface="Consolas" pitchFamily="34" charset="0"/>
                <a:ea typeface="Consolas" pitchFamily="34" charset="-122"/>
                <a:cs typeface="Consolas" pitchFamily="34" charset="-120"/>
              </a:rPr>
              <a:t>Customer_CountFROM</a:t>
            </a:r>
            <a:r>
              <a:rPr lang="en-US" sz="900" dirty="0">
                <a:solidFill>
                  <a:srgbClr val="B0C4CC"/>
                </a:solidFill>
                <a:latin typeface="Consolas" pitchFamily="34" charset="0"/>
                <a:ea typeface="Consolas" pitchFamily="34" charset="-122"/>
                <a:cs typeface="Consolas" pitchFamily="34" charset="-120"/>
              </a:rPr>
              <a:t> customer </a:t>
            </a:r>
            <a:r>
              <a:rPr lang="en-US" sz="900" dirty="0" err="1">
                <a:solidFill>
                  <a:srgbClr val="B0C4CC"/>
                </a:solidFill>
                <a:latin typeface="Consolas" pitchFamily="34" charset="0"/>
                <a:ea typeface="Consolas" pitchFamily="34" charset="-122"/>
                <a:cs typeface="Consolas" pitchFamily="34" charset="-120"/>
              </a:rPr>
              <a:t>informationGROUP</a:t>
            </a:r>
            <a:r>
              <a:rPr lang="en-US" sz="900" dirty="0">
                <a:solidFill>
                  <a:srgbClr val="B0C4CC"/>
                </a:solidFill>
                <a:latin typeface="Consolas" pitchFamily="34" charset="0"/>
                <a:ea typeface="Consolas" pitchFamily="34" charset="-122"/>
                <a:cs typeface="Consolas" pitchFamily="34" charset="-120"/>
              </a:rPr>
              <a:t> BY Gender;</a:t>
            </a:r>
            <a:endParaRPr lang="en-US" sz="900" dirty="0"/>
          </a:p>
        </p:txBody>
      </p:sp>
      <p:sp>
        <p:nvSpPr>
          <p:cNvPr id="20" name="Shape 18"/>
          <p:cNvSpPr/>
          <p:nvPr/>
        </p:nvSpPr>
        <p:spPr>
          <a:xfrm>
            <a:off x="3200400" y="2971800"/>
            <a:ext cx="2788920" cy="1828800"/>
          </a:xfrm>
          <a:prstGeom prst="rect">
            <a:avLst/>
          </a:prstGeom>
          <a:solidFill>
            <a:srgbClr val="002C3E"/>
          </a:solidFill>
          <a:ln w="12700">
            <a:solidFill>
              <a:srgbClr val="004A5D"/>
            </a:solidFill>
            <a:prstDash val="solid"/>
          </a:ln>
          <a:effectLst>
            <a:outerShdw blurRad="101600" dist="38100" dir="8100000" algn="bl" rotWithShape="0">
              <a:srgbClr val="000000">
                <a:alpha val="18000"/>
              </a:srgbClr>
            </a:outerShdw>
          </a:effectLst>
        </p:spPr>
      </p:sp>
      <p:sp>
        <p:nvSpPr>
          <p:cNvPr id="21" name="Shape 19"/>
          <p:cNvSpPr/>
          <p:nvPr/>
        </p:nvSpPr>
        <p:spPr>
          <a:xfrm>
            <a:off x="3200400" y="2971800"/>
            <a:ext cx="2788920" cy="365760"/>
          </a:xfrm>
          <a:prstGeom prst="rect">
            <a:avLst/>
          </a:prstGeom>
          <a:solidFill>
            <a:srgbClr val="004A5D"/>
          </a:solidFill>
          <a:ln w="12700">
            <a:solidFill>
              <a:srgbClr val="004A5D"/>
            </a:solidFill>
            <a:prstDash val="solid"/>
          </a:ln>
        </p:spPr>
      </p:sp>
      <p:sp>
        <p:nvSpPr>
          <p:cNvPr id="22" name="Text 20"/>
          <p:cNvSpPr/>
          <p:nvPr/>
        </p:nvSpPr>
        <p:spPr>
          <a:xfrm>
            <a:off x="3246120" y="2971800"/>
            <a:ext cx="2697480" cy="365760"/>
          </a:xfrm>
          <a:prstGeom prst="rect">
            <a:avLst/>
          </a:prstGeom>
          <a:noFill/>
          <a:ln/>
        </p:spPr>
        <p:txBody>
          <a:bodyPr wrap="square" rtlCol="0" anchor="ctr"/>
          <a:lstStyle/>
          <a:p>
            <a:r>
              <a:rPr lang="en-US" sz="1000" b="1" dirty="0">
                <a:solidFill>
                  <a:srgbClr val="FF4C16"/>
                </a:solidFill>
              </a:rPr>
              <a:t>-- 5 Policy Type Wise Policy Count</a:t>
            </a:r>
            <a:endParaRPr lang="en-US" sz="1000" dirty="0"/>
          </a:p>
        </p:txBody>
      </p:sp>
      <p:sp>
        <p:nvSpPr>
          <p:cNvPr id="23" name="Text 21"/>
          <p:cNvSpPr/>
          <p:nvPr/>
        </p:nvSpPr>
        <p:spPr>
          <a:xfrm>
            <a:off x="3273552" y="3383280"/>
            <a:ext cx="2651760" cy="1371600"/>
          </a:xfrm>
          <a:prstGeom prst="rect">
            <a:avLst/>
          </a:prstGeom>
          <a:noFill/>
          <a:ln/>
        </p:spPr>
        <p:txBody>
          <a:bodyPr wrap="square" rtlCol="0" anchor="t"/>
          <a:lstStyle/>
          <a:p>
            <a:r>
              <a:rPr lang="en-US" sz="900" dirty="0">
                <a:solidFill>
                  <a:srgbClr val="B0C4CC"/>
                </a:solidFill>
                <a:latin typeface="Consolas" pitchFamily="34" charset="0"/>
                <a:ea typeface="Consolas" pitchFamily="34" charset="-122"/>
                <a:cs typeface="Consolas" pitchFamily="34" charset="-120"/>
              </a:rPr>
              <a:t>SELECT </a:t>
            </a:r>
            <a:r>
              <a:rPr lang="en-US" sz="900" dirty="0" err="1">
                <a:solidFill>
                  <a:srgbClr val="B0C4CC"/>
                </a:solidFill>
                <a:latin typeface="Consolas" pitchFamily="34" charset="0"/>
                <a:ea typeface="Consolas" pitchFamily="34" charset="-122"/>
                <a:cs typeface="Consolas" pitchFamily="34" charset="-120"/>
              </a:rPr>
              <a:t>product_group</a:t>
            </a:r>
            <a:r>
              <a:rPr lang="en-US" sz="900" dirty="0">
                <a:solidFill>
                  <a:srgbClr val="B0C4CC"/>
                </a:solidFill>
                <a:latin typeface="Consolas" pitchFamily="34" charset="0"/>
                <a:ea typeface="Consolas" pitchFamily="34" charset="-122"/>
                <a:cs typeface="Consolas" pitchFamily="34" charset="-120"/>
              </a:rPr>
              <a:t> AS </a:t>
            </a:r>
            <a:r>
              <a:rPr lang="en-US" sz="900" dirty="0" err="1">
                <a:solidFill>
                  <a:srgbClr val="B0C4CC"/>
                </a:solidFill>
                <a:latin typeface="Consolas" pitchFamily="34" charset="0"/>
                <a:ea typeface="Consolas" pitchFamily="34" charset="-122"/>
                <a:cs typeface="Consolas" pitchFamily="34" charset="-120"/>
              </a:rPr>
              <a:t>Policy_Type</a:t>
            </a:r>
            <a:r>
              <a:rPr lang="en-US" sz="900" dirty="0">
                <a:solidFill>
                  <a:srgbClr val="B0C4CC"/>
                </a:solidFill>
                <a:latin typeface="Consolas" pitchFamily="34" charset="0"/>
                <a:ea typeface="Consolas" pitchFamily="34" charset="-122"/>
                <a:cs typeface="Consolas" pitchFamily="34" charset="-120"/>
              </a:rPr>
              <a:t>, COUNT(</a:t>
            </a:r>
            <a:r>
              <a:rPr lang="en-US" sz="900" dirty="0" err="1">
                <a:solidFill>
                  <a:srgbClr val="B0C4CC"/>
                </a:solidFill>
                <a:latin typeface="Consolas" pitchFamily="34" charset="0"/>
                <a:ea typeface="Consolas" pitchFamily="34" charset="-122"/>
                <a:cs typeface="Consolas" pitchFamily="34" charset="-120"/>
              </a:rPr>
              <a:t>policy_number</a:t>
            </a:r>
            <a:r>
              <a:rPr lang="en-US" sz="900" dirty="0">
                <a:solidFill>
                  <a:srgbClr val="B0C4CC"/>
                </a:solidFill>
                <a:latin typeface="Consolas" pitchFamily="34" charset="0"/>
                <a:ea typeface="Consolas" pitchFamily="34" charset="-122"/>
                <a:cs typeface="Consolas" pitchFamily="34" charset="-120"/>
              </a:rPr>
              <a:t>) AS </a:t>
            </a:r>
            <a:r>
              <a:rPr lang="en-US" sz="900" dirty="0" err="1">
                <a:solidFill>
                  <a:srgbClr val="B0C4CC"/>
                </a:solidFill>
                <a:latin typeface="Consolas" pitchFamily="34" charset="0"/>
                <a:ea typeface="Consolas" pitchFamily="34" charset="-122"/>
                <a:cs typeface="Consolas" pitchFamily="34" charset="-120"/>
              </a:rPr>
              <a:t>Policy_CountFROM</a:t>
            </a:r>
            <a:r>
              <a:rPr lang="en-US" sz="900" dirty="0">
                <a:solidFill>
                  <a:srgbClr val="B0C4CC"/>
                </a:solidFill>
                <a:latin typeface="Consolas" pitchFamily="34" charset="0"/>
                <a:ea typeface="Consolas" pitchFamily="34" charset="-122"/>
                <a:cs typeface="Consolas" pitchFamily="34" charset="-120"/>
              </a:rPr>
              <a:t> </a:t>
            </a:r>
            <a:r>
              <a:rPr lang="en-US" sz="900" dirty="0" err="1">
                <a:solidFill>
                  <a:srgbClr val="B0C4CC"/>
                </a:solidFill>
                <a:latin typeface="Consolas" pitchFamily="34" charset="0"/>
                <a:ea typeface="Consolas" pitchFamily="34" charset="-122"/>
                <a:cs typeface="Consolas" pitchFamily="34" charset="-120"/>
              </a:rPr>
              <a:t>dim_policyGROUP</a:t>
            </a:r>
            <a:r>
              <a:rPr lang="en-US" sz="900" dirty="0">
                <a:solidFill>
                  <a:srgbClr val="B0C4CC"/>
                </a:solidFill>
                <a:latin typeface="Consolas" pitchFamily="34" charset="0"/>
                <a:ea typeface="Consolas" pitchFamily="34" charset="-122"/>
                <a:cs typeface="Consolas" pitchFamily="34" charset="-120"/>
              </a:rPr>
              <a:t> BY </a:t>
            </a:r>
            <a:r>
              <a:rPr lang="en-US" sz="900" dirty="0" err="1">
                <a:solidFill>
                  <a:srgbClr val="B0C4CC"/>
                </a:solidFill>
                <a:latin typeface="Consolas" pitchFamily="34" charset="0"/>
                <a:ea typeface="Consolas" pitchFamily="34" charset="-122"/>
                <a:cs typeface="Consolas" pitchFamily="34" charset="-120"/>
              </a:rPr>
              <a:t>product_group</a:t>
            </a:r>
            <a:r>
              <a:rPr lang="en-US" sz="900" dirty="0">
                <a:solidFill>
                  <a:srgbClr val="B0C4CC"/>
                </a:solidFill>
                <a:latin typeface="Consolas" pitchFamily="34" charset="0"/>
                <a:ea typeface="Consolas" pitchFamily="34" charset="-122"/>
                <a:cs typeface="Consolas" pitchFamily="34" charset="-120"/>
              </a:rPr>
              <a:t>;</a:t>
            </a:r>
            <a:endParaRPr lang="en-US" sz="900" dirty="0"/>
          </a:p>
        </p:txBody>
      </p:sp>
      <p:sp>
        <p:nvSpPr>
          <p:cNvPr id="24" name="Shape 22"/>
          <p:cNvSpPr/>
          <p:nvPr/>
        </p:nvSpPr>
        <p:spPr>
          <a:xfrm>
            <a:off x="6172200" y="2971800"/>
            <a:ext cx="2788920" cy="1828800"/>
          </a:xfrm>
          <a:prstGeom prst="rect">
            <a:avLst/>
          </a:prstGeom>
          <a:solidFill>
            <a:srgbClr val="002C3E"/>
          </a:solidFill>
          <a:ln w="12700">
            <a:solidFill>
              <a:srgbClr val="004A5D"/>
            </a:solidFill>
            <a:prstDash val="solid"/>
          </a:ln>
          <a:effectLst>
            <a:outerShdw blurRad="101600" dist="38100" dir="8100000" algn="bl" rotWithShape="0">
              <a:srgbClr val="000000">
                <a:alpha val="18000"/>
              </a:srgbClr>
            </a:outerShdw>
          </a:effectLst>
        </p:spPr>
      </p:sp>
      <p:sp>
        <p:nvSpPr>
          <p:cNvPr id="25" name="Shape 23"/>
          <p:cNvSpPr/>
          <p:nvPr/>
        </p:nvSpPr>
        <p:spPr>
          <a:xfrm>
            <a:off x="6172200" y="2971800"/>
            <a:ext cx="2788920" cy="365760"/>
          </a:xfrm>
          <a:prstGeom prst="rect">
            <a:avLst/>
          </a:prstGeom>
          <a:solidFill>
            <a:srgbClr val="004A5D"/>
          </a:solidFill>
          <a:ln w="12700">
            <a:solidFill>
              <a:srgbClr val="004A5D"/>
            </a:solidFill>
            <a:prstDash val="solid"/>
          </a:ln>
        </p:spPr>
      </p:sp>
      <p:sp>
        <p:nvSpPr>
          <p:cNvPr id="26" name="Text 24"/>
          <p:cNvSpPr/>
          <p:nvPr/>
        </p:nvSpPr>
        <p:spPr>
          <a:xfrm>
            <a:off x="6217920" y="2971800"/>
            <a:ext cx="2697480" cy="365760"/>
          </a:xfrm>
          <a:prstGeom prst="rect">
            <a:avLst/>
          </a:prstGeom>
          <a:noFill/>
          <a:ln/>
        </p:spPr>
        <p:txBody>
          <a:bodyPr wrap="square" rtlCol="0" anchor="ctr"/>
          <a:lstStyle/>
          <a:p>
            <a:r>
              <a:rPr lang="en-US" sz="1000" b="1" dirty="0">
                <a:solidFill>
                  <a:srgbClr val="FF4C16"/>
                </a:solidFill>
              </a:rPr>
              <a:t>-- 6 Policy Expiring This Year</a:t>
            </a:r>
            <a:endParaRPr lang="en-US" sz="1000" dirty="0"/>
          </a:p>
        </p:txBody>
      </p:sp>
      <p:sp>
        <p:nvSpPr>
          <p:cNvPr id="27" name="Text 25"/>
          <p:cNvSpPr/>
          <p:nvPr/>
        </p:nvSpPr>
        <p:spPr>
          <a:xfrm>
            <a:off x="6245352" y="3383280"/>
            <a:ext cx="2651760" cy="1371600"/>
          </a:xfrm>
          <a:prstGeom prst="rect">
            <a:avLst/>
          </a:prstGeom>
          <a:noFill/>
          <a:ln/>
        </p:spPr>
        <p:txBody>
          <a:bodyPr wrap="square" rtlCol="0" anchor="t"/>
          <a:lstStyle/>
          <a:p>
            <a:r>
              <a:rPr lang="en-US" sz="900" dirty="0">
                <a:solidFill>
                  <a:srgbClr val="B0C4CC"/>
                </a:solidFill>
                <a:latin typeface="Consolas" pitchFamily="34" charset="0"/>
                <a:ea typeface="Consolas" pitchFamily="34" charset="-122"/>
                <a:cs typeface="Consolas" pitchFamily="34" charset="-120"/>
              </a:rPr>
              <a:t>SELECT COUNT(</a:t>
            </a:r>
            <a:r>
              <a:rPr lang="en-US" sz="900" dirty="0" err="1">
                <a:solidFill>
                  <a:srgbClr val="B0C4CC"/>
                </a:solidFill>
                <a:latin typeface="Consolas" pitchFamily="34" charset="0"/>
                <a:ea typeface="Consolas" pitchFamily="34" charset="-122"/>
                <a:cs typeface="Consolas" pitchFamily="34" charset="-120"/>
              </a:rPr>
              <a:t>policy_number</a:t>
            </a:r>
            <a:r>
              <a:rPr lang="en-US" sz="900" dirty="0">
                <a:solidFill>
                  <a:srgbClr val="B0C4CC"/>
                </a:solidFill>
                <a:latin typeface="Consolas" pitchFamily="34" charset="0"/>
                <a:ea typeface="Consolas" pitchFamily="34" charset="-122"/>
                <a:cs typeface="Consolas" pitchFamily="34" charset="-120"/>
              </a:rPr>
              <a:t>) AS Policies_Expiring_2024FROM </a:t>
            </a:r>
            <a:r>
              <a:rPr lang="en-US" sz="900" dirty="0" err="1">
                <a:solidFill>
                  <a:srgbClr val="B0C4CC"/>
                </a:solidFill>
                <a:latin typeface="Consolas" pitchFamily="34" charset="0"/>
                <a:ea typeface="Consolas" pitchFamily="34" charset="-122"/>
                <a:cs typeface="Consolas" pitchFamily="34" charset="-120"/>
              </a:rPr>
              <a:t>dim_policyWHERE</a:t>
            </a:r>
            <a:r>
              <a:rPr lang="en-US" sz="900" dirty="0">
                <a:solidFill>
                  <a:srgbClr val="B0C4CC"/>
                </a:solidFill>
                <a:latin typeface="Consolas" pitchFamily="34" charset="0"/>
                <a:ea typeface="Consolas" pitchFamily="34" charset="-122"/>
                <a:cs typeface="Consolas" pitchFamily="34" charset="-120"/>
              </a:rPr>
              <a:t> YEAR(</a:t>
            </a:r>
            <a:r>
              <a:rPr lang="en-US" sz="900" dirty="0" err="1">
                <a:solidFill>
                  <a:srgbClr val="B0C4CC"/>
                </a:solidFill>
                <a:latin typeface="Consolas" pitchFamily="34" charset="0"/>
                <a:ea typeface="Consolas" pitchFamily="34" charset="-122"/>
                <a:cs typeface="Consolas" pitchFamily="34" charset="-120"/>
              </a:rPr>
              <a:t>policy_end_date</a:t>
            </a:r>
            <a:r>
              <a:rPr lang="en-US" sz="900" dirty="0">
                <a:solidFill>
                  <a:srgbClr val="B0C4CC"/>
                </a:solidFill>
                <a:latin typeface="Consolas" pitchFamily="34" charset="0"/>
                <a:ea typeface="Consolas" pitchFamily="34" charset="-122"/>
                <a:cs typeface="Consolas" pitchFamily="34" charset="-120"/>
              </a:rPr>
              <a:t>) = 2024;</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0F4F5"/>
        </a:solidFill>
        <a:effectLst/>
      </p:bgPr>
    </p:bg>
    <p:spTree>
      <p:nvGrpSpPr>
        <p:cNvPr id="1" name="">
          <a:extLst>
            <a:ext uri="{FF2B5EF4-FFF2-40B4-BE49-F238E27FC236}">
              <a16:creationId xmlns:a16="http://schemas.microsoft.com/office/drawing/2014/main" id="{D3F97A55-28F8-6645-AC66-BC15FB81B23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3B8EEC2-7395-CFEB-C69E-0AACF3336794}"/>
              </a:ext>
            </a:extLst>
          </p:cNvPr>
          <p:cNvSpPr/>
          <p:nvPr/>
        </p:nvSpPr>
        <p:spPr>
          <a:xfrm>
            <a:off x="0" y="0"/>
            <a:ext cx="9144000" cy="822960"/>
          </a:xfrm>
          <a:prstGeom prst="rect">
            <a:avLst/>
          </a:prstGeom>
          <a:solidFill>
            <a:srgbClr val="002C3E"/>
          </a:solidFill>
          <a:ln w="12700">
            <a:solidFill>
              <a:srgbClr val="002C3E"/>
            </a:solidFill>
            <a:prstDash val="solid"/>
          </a:ln>
        </p:spPr>
      </p:sp>
      <p:sp>
        <p:nvSpPr>
          <p:cNvPr id="3" name="Text 1">
            <a:extLst>
              <a:ext uri="{FF2B5EF4-FFF2-40B4-BE49-F238E27FC236}">
                <a16:creationId xmlns:a16="http://schemas.microsoft.com/office/drawing/2014/main" id="{59E856CC-DA59-0759-27C2-B9DE584F08F8}"/>
              </a:ext>
            </a:extLst>
          </p:cNvPr>
          <p:cNvSpPr/>
          <p:nvPr/>
        </p:nvSpPr>
        <p:spPr>
          <a:xfrm>
            <a:off x="274320" y="0"/>
            <a:ext cx="8229600" cy="82296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SQL — KPI Queries</a:t>
            </a:r>
            <a:endParaRPr lang="en-US" sz="2800" dirty="0"/>
          </a:p>
        </p:txBody>
      </p:sp>
      <p:sp>
        <p:nvSpPr>
          <p:cNvPr id="4" name="Shape 2">
            <a:extLst>
              <a:ext uri="{FF2B5EF4-FFF2-40B4-BE49-F238E27FC236}">
                <a16:creationId xmlns:a16="http://schemas.microsoft.com/office/drawing/2014/main" id="{8A58763F-28B7-6282-A70A-2B74C5DA4FEB}"/>
              </a:ext>
            </a:extLst>
          </p:cNvPr>
          <p:cNvSpPr/>
          <p:nvPr/>
        </p:nvSpPr>
        <p:spPr>
          <a:xfrm>
            <a:off x="228600" y="960120"/>
            <a:ext cx="2788920" cy="1828800"/>
          </a:xfrm>
          <a:prstGeom prst="rect">
            <a:avLst/>
          </a:prstGeom>
          <a:solidFill>
            <a:srgbClr val="002C3E"/>
          </a:solidFill>
          <a:ln w="12700">
            <a:solidFill>
              <a:srgbClr val="004A5D"/>
            </a:solidFill>
            <a:prstDash val="solid"/>
          </a:ln>
          <a:effectLst>
            <a:outerShdw blurRad="101600" dist="38100" dir="8100000" algn="bl" rotWithShape="0">
              <a:srgbClr val="000000">
                <a:alpha val="18000"/>
              </a:srgbClr>
            </a:outerShdw>
          </a:effectLst>
        </p:spPr>
      </p:sp>
      <p:sp>
        <p:nvSpPr>
          <p:cNvPr id="5" name="Shape 3">
            <a:extLst>
              <a:ext uri="{FF2B5EF4-FFF2-40B4-BE49-F238E27FC236}">
                <a16:creationId xmlns:a16="http://schemas.microsoft.com/office/drawing/2014/main" id="{A05F1DAE-D356-B9C9-3D32-8635104234E5}"/>
              </a:ext>
            </a:extLst>
          </p:cNvPr>
          <p:cNvSpPr/>
          <p:nvPr/>
        </p:nvSpPr>
        <p:spPr>
          <a:xfrm>
            <a:off x="228600" y="960120"/>
            <a:ext cx="2788920" cy="365760"/>
          </a:xfrm>
          <a:prstGeom prst="rect">
            <a:avLst/>
          </a:prstGeom>
          <a:solidFill>
            <a:srgbClr val="004A5D"/>
          </a:solidFill>
          <a:ln w="12700">
            <a:solidFill>
              <a:srgbClr val="004A5D"/>
            </a:solidFill>
            <a:prstDash val="solid"/>
          </a:ln>
        </p:spPr>
      </p:sp>
      <p:sp>
        <p:nvSpPr>
          <p:cNvPr id="6" name="Text 4">
            <a:extLst>
              <a:ext uri="{FF2B5EF4-FFF2-40B4-BE49-F238E27FC236}">
                <a16:creationId xmlns:a16="http://schemas.microsoft.com/office/drawing/2014/main" id="{00A06B5B-F132-4335-3C64-2FF7653BB4C0}"/>
              </a:ext>
            </a:extLst>
          </p:cNvPr>
          <p:cNvSpPr/>
          <p:nvPr/>
        </p:nvSpPr>
        <p:spPr>
          <a:xfrm>
            <a:off x="274320" y="960120"/>
            <a:ext cx="2697480" cy="365760"/>
          </a:xfrm>
          <a:prstGeom prst="rect">
            <a:avLst/>
          </a:prstGeom>
          <a:noFill/>
          <a:ln/>
        </p:spPr>
        <p:txBody>
          <a:bodyPr wrap="square" rtlCol="0" anchor="ctr"/>
          <a:lstStyle/>
          <a:p>
            <a:r>
              <a:rPr lang="en-US" sz="1000" b="1" dirty="0">
                <a:solidFill>
                  <a:srgbClr val="FF4C16"/>
                </a:solidFill>
              </a:rPr>
              <a:t>-- 7 Premium Growth Rate</a:t>
            </a:r>
            <a:endParaRPr lang="en-US" sz="1000" dirty="0"/>
          </a:p>
        </p:txBody>
      </p:sp>
      <p:sp>
        <p:nvSpPr>
          <p:cNvPr id="7" name="Text 5">
            <a:extLst>
              <a:ext uri="{FF2B5EF4-FFF2-40B4-BE49-F238E27FC236}">
                <a16:creationId xmlns:a16="http://schemas.microsoft.com/office/drawing/2014/main" id="{2C94E0DD-932F-F17D-CBAA-5562B76851E4}"/>
              </a:ext>
            </a:extLst>
          </p:cNvPr>
          <p:cNvSpPr/>
          <p:nvPr/>
        </p:nvSpPr>
        <p:spPr>
          <a:xfrm>
            <a:off x="301752" y="1371600"/>
            <a:ext cx="2651760" cy="1371600"/>
          </a:xfrm>
          <a:prstGeom prst="rect">
            <a:avLst/>
          </a:prstGeom>
          <a:noFill/>
          <a:ln/>
        </p:spPr>
        <p:txBody>
          <a:bodyPr wrap="square" rtlCol="0" anchor="t"/>
          <a:lstStyle/>
          <a:p>
            <a:r>
              <a:rPr lang="en-US" sz="900" dirty="0">
                <a:solidFill>
                  <a:srgbClr val="B0C4CC"/>
                </a:solidFill>
                <a:latin typeface="Consolas" pitchFamily="34" charset="0"/>
                <a:ea typeface="Consolas" pitchFamily="34" charset="-122"/>
                <a:cs typeface="Consolas" pitchFamily="34" charset="-120"/>
              </a:rPr>
              <a:t>SELECT     YEAR(</a:t>
            </a:r>
            <a:r>
              <a:rPr lang="en-US" sz="900" dirty="0" err="1">
                <a:solidFill>
                  <a:srgbClr val="B0C4CC"/>
                </a:solidFill>
                <a:latin typeface="Consolas" pitchFamily="34" charset="0"/>
                <a:ea typeface="Consolas" pitchFamily="34" charset="-122"/>
                <a:cs typeface="Consolas" pitchFamily="34" charset="-120"/>
              </a:rPr>
              <a:t>policy_start_date</a:t>
            </a:r>
            <a:r>
              <a:rPr lang="en-US" sz="900" dirty="0">
                <a:solidFill>
                  <a:srgbClr val="B0C4CC"/>
                </a:solidFill>
                <a:latin typeface="Consolas" pitchFamily="34" charset="0"/>
                <a:ea typeface="Consolas" pitchFamily="34" charset="-122"/>
                <a:cs typeface="Consolas" pitchFamily="34" charset="-120"/>
              </a:rPr>
              <a:t>) AS </a:t>
            </a:r>
            <a:r>
              <a:rPr lang="en-US" sz="900" dirty="0" err="1">
                <a:solidFill>
                  <a:srgbClr val="B0C4CC"/>
                </a:solidFill>
                <a:latin typeface="Consolas" pitchFamily="34" charset="0"/>
                <a:ea typeface="Consolas" pitchFamily="34" charset="-122"/>
                <a:cs typeface="Consolas" pitchFamily="34" charset="-120"/>
              </a:rPr>
              <a:t>Financial_Year</a:t>
            </a:r>
            <a:r>
              <a:rPr lang="en-US" sz="900" dirty="0">
                <a:solidFill>
                  <a:srgbClr val="B0C4CC"/>
                </a:solidFill>
                <a:latin typeface="Consolas" pitchFamily="34" charset="0"/>
                <a:ea typeface="Consolas" pitchFamily="34" charset="-122"/>
                <a:cs typeface="Consolas" pitchFamily="34" charset="-120"/>
              </a:rPr>
              <a:t>,    SUM(Amount) AS </a:t>
            </a:r>
            <a:r>
              <a:rPr lang="en-US" sz="900" dirty="0" err="1">
                <a:solidFill>
                  <a:srgbClr val="B0C4CC"/>
                </a:solidFill>
                <a:latin typeface="Consolas" pitchFamily="34" charset="0"/>
                <a:ea typeface="Consolas" pitchFamily="34" charset="-122"/>
                <a:cs typeface="Consolas" pitchFamily="34" charset="-120"/>
              </a:rPr>
              <a:t>Total_PremiumFROM</a:t>
            </a:r>
            <a:r>
              <a:rPr lang="en-US" sz="900" dirty="0">
                <a:solidFill>
                  <a:srgbClr val="B0C4CC"/>
                </a:solidFill>
                <a:latin typeface="Consolas" pitchFamily="34" charset="0"/>
                <a:ea typeface="Consolas" pitchFamily="34" charset="-122"/>
                <a:cs typeface="Consolas" pitchFamily="34" charset="-120"/>
              </a:rPr>
              <a:t> </a:t>
            </a:r>
            <a:r>
              <a:rPr lang="en-US" sz="900" dirty="0" err="1">
                <a:solidFill>
                  <a:srgbClr val="B0C4CC"/>
                </a:solidFill>
                <a:latin typeface="Consolas" pitchFamily="34" charset="0"/>
                <a:ea typeface="Consolas" pitchFamily="34" charset="-122"/>
                <a:cs typeface="Consolas" pitchFamily="34" charset="-120"/>
              </a:rPr>
              <a:t>brokerageGROUP</a:t>
            </a:r>
            <a:r>
              <a:rPr lang="en-US" sz="900" dirty="0">
                <a:solidFill>
                  <a:srgbClr val="B0C4CC"/>
                </a:solidFill>
                <a:latin typeface="Consolas" pitchFamily="34" charset="0"/>
                <a:ea typeface="Consolas" pitchFamily="34" charset="-122"/>
                <a:cs typeface="Consolas" pitchFamily="34" charset="-120"/>
              </a:rPr>
              <a:t> BY YEAR(</a:t>
            </a:r>
            <a:r>
              <a:rPr lang="en-US" sz="900" dirty="0" err="1">
                <a:solidFill>
                  <a:srgbClr val="B0C4CC"/>
                </a:solidFill>
                <a:latin typeface="Consolas" pitchFamily="34" charset="0"/>
                <a:ea typeface="Consolas" pitchFamily="34" charset="-122"/>
                <a:cs typeface="Consolas" pitchFamily="34" charset="-120"/>
              </a:rPr>
              <a:t>policy_start_date</a:t>
            </a:r>
            <a:r>
              <a:rPr lang="en-US" sz="900" dirty="0">
                <a:solidFill>
                  <a:srgbClr val="B0C4CC"/>
                </a:solidFill>
                <a:latin typeface="Consolas" pitchFamily="34" charset="0"/>
                <a:ea typeface="Consolas" pitchFamily="34" charset="-122"/>
                <a:cs typeface="Consolas" pitchFamily="34" charset="-120"/>
              </a:rPr>
              <a:t>)ORDER BY </a:t>
            </a:r>
            <a:r>
              <a:rPr lang="en-US" sz="900" dirty="0" err="1">
                <a:solidFill>
                  <a:srgbClr val="B0C4CC"/>
                </a:solidFill>
                <a:latin typeface="Consolas" pitchFamily="34" charset="0"/>
                <a:ea typeface="Consolas" pitchFamily="34" charset="-122"/>
                <a:cs typeface="Consolas" pitchFamily="34" charset="-120"/>
              </a:rPr>
              <a:t>Financial_Year</a:t>
            </a:r>
            <a:r>
              <a:rPr lang="en-US" sz="900" dirty="0">
                <a:solidFill>
                  <a:srgbClr val="B0C4CC"/>
                </a:solidFill>
                <a:latin typeface="Consolas" pitchFamily="34" charset="0"/>
                <a:ea typeface="Consolas" pitchFamily="34" charset="-122"/>
                <a:cs typeface="Consolas" pitchFamily="34" charset="-120"/>
              </a:rPr>
              <a:t>;</a:t>
            </a:r>
            <a:endParaRPr lang="en-US" sz="900" dirty="0"/>
          </a:p>
        </p:txBody>
      </p:sp>
      <p:sp>
        <p:nvSpPr>
          <p:cNvPr id="8" name="Shape 6">
            <a:extLst>
              <a:ext uri="{FF2B5EF4-FFF2-40B4-BE49-F238E27FC236}">
                <a16:creationId xmlns:a16="http://schemas.microsoft.com/office/drawing/2014/main" id="{3BABD838-A05B-BBB7-91D4-6A2992B0E295}"/>
              </a:ext>
            </a:extLst>
          </p:cNvPr>
          <p:cNvSpPr/>
          <p:nvPr/>
        </p:nvSpPr>
        <p:spPr>
          <a:xfrm>
            <a:off x="3200400" y="960120"/>
            <a:ext cx="2788920" cy="1828800"/>
          </a:xfrm>
          <a:prstGeom prst="rect">
            <a:avLst/>
          </a:prstGeom>
          <a:solidFill>
            <a:srgbClr val="002C3E"/>
          </a:solidFill>
          <a:ln w="12700">
            <a:solidFill>
              <a:srgbClr val="004A5D"/>
            </a:solidFill>
            <a:prstDash val="solid"/>
          </a:ln>
          <a:effectLst>
            <a:outerShdw blurRad="101600" dist="38100" dir="8100000" algn="bl" rotWithShape="0">
              <a:srgbClr val="000000">
                <a:alpha val="18000"/>
              </a:srgbClr>
            </a:outerShdw>
          </a:effectLst>
        </p:spPr>
      </p:sp>
      <p:sp>
        <p:nvSpPr>
          <p:cNvPr id="9" name="Shape 7">
            <a:extLst>
              <a:ext uri="{FF2B5EF4-FFF2-40B4-BE49-F238E27FC236}">
                <a16:creationId xmlns:a16="http://schemas.microsoft.com/office/drawing/2014/main" id="{3B03B4DE-C732-E5EE-03B4-6C0AAD7FA33A}"/>
              </a:ext>
            </a:extLst>
          </p:cNvPr>
          <p:cNvSpPr/>
          <p:nvPr/>
        </p:nvSpPr>
        <p:spPr>
          <a:xfrm>
            <a:off x="3200400" y="960120"/>
            <a:ext cx="2788920" cy="365760"/>
          </a:xfrm>
          <a:prstGeom prst="rect">
            <a:avLst/>
          </a:prstGeom>
          <a:solidFill>
            <a:srgbClr val="004A5D"/>
          </a:solidFill>
          <a:ln w="12700">
            <a:solidFill>
              <a:srgbClr val="004A5D"/>
            </a:solidFill>
            <a:prstDash val="solid"/>
          </a:ln>
        </p:spPr>
      </p:sp>
      <p:sp>
        <p:nvSpPr>
          <p:cNvPr id="10" name="Text 8">
            <a:extLst>
              <a:ext uri="{FF2B5EF4-FFF2-40B4-BE49-F238E27FC236}">
                <a16:creationId xmlns:a16="http://schemas.microsoft.com/office/drawing/2014/main" id="{85A66128-520B-D2EC-D0C2-990986198B72}"/>
              </a:ext>
            </a:extLst>
          </p:cNvPr>
          <p:cNvSpPr/>
          <p:nvPr/>
        </p:nvSpPr>
        <p:spPr>
          <a:xfrm>
            <a:off x="3246120" y="960120"/>
            <a:ext cx="2697480" cy="365760"/>
          </a:xfrm>
          <a:prstGeom prst="rect">
            <a:avLst/>
          </a:prstGeom>
          <a:noFill/>
          <a:ln/>
        </p:spPr>
        <p:txBody>
          <a:bodyPr wrap="square" rtlCol="0" anchor="ctr"/>
          <a:lstStyle/>
          <a:p>
            <a:r>
              <a:rPr lang="en-US" sz="1000" b="1" dirty="0">
                <a:solidFill>
                  <a:srgbClr val="FF4C16"/>
                </a:solidFill>
              </a:rPr>
              <a:t>-- 8 Claim Status Wise Policy Count</a:t>
            </a:r>
            <a:endParaRPr lang="en-US" sz="1000" dirty="0"/>
          </a:p>
        </p:txBody>
      </p:sp>
      <p:sp>
        <p:nvSpPr>
          <p:cNvPr id="11" name="Text 9">
            <a:extLst>
              <a:ext uri="{FF2B5EF4-FFF2-40B4-BE49-F238E27FC236}">
                <a16:creationId xmlns:a16="http://schemas.microsoft.com/office/drawing/2014/main" id="{9683E47C-A1A9-B42B-3F79-2878792ED16E}"/>
              </a:ext>
            </a:extLst>
          </p:cNvPr>
          <p:cNvSpPr/>
          <p:nvPr/>
        </p:nvSpPr>
        <p:spPr>
          <a:xfrm>
            <a:off x="3273552" y="1371600"/>
            <a:ext cx="2651760" cy="1371600"/>
          </a:xfrm>
          <a:prstGeom prst="rect">
            <a:avLst/>
          </a:prstGeom>
          <a:noFill/>
          <a:ln/>
        </p:spPr>
        <p:txBody>
          <a:bodyPr wrap="square" rtlCol="0" anchor="t"/>
          <a:lstStyle/>
          <a:p>
            <a:r>
              <a:rPr lang="en-US" sz="900" dirty="0">
                <a:solidFill>
                  <a:srgbClr val="B0C4CC"/>
                </a:solidFill>
                <a:latin typeface="Consolas" pitchFamily="34" charset="0"/>
                <a:ea typeface="Consolas" pitchFamily="34" charset="-122"/>
                <a:cs typeface="Consolas" pitchFamily="34" charset="-120"/>
              </a:rPr>
              <a:t>SELECT Claim Status, COUNT(DISTINCT Policy ID) AS </a:t>
            </a:r>
            <a:r>
              <a:rPr lang="en-US" sz="900" dirty="0" err="1">
                <a:solidFill>
                  <a:srgbClr val="B0C4CC"/>
                </a:solidFill>
                <a:latin typeface="Consolas" pitchFamily="34" charset="0"/>
                <a:ea typeface="Consolas" pitchFamily="34" charset="-122"/>
                <a:cs typeface="Consolas" pitchFamily="34" charset="-120"/>
              </a:rPr>
              <a:t>Policy_CountFROM</a:t>
            </a:r>
            <a:r>
              <a:rPr lang="en-US" sz="900" dirty="0">
                <a:solidFill>
                  <a:srgbClr val="B0C4CC"/>
                </a:solidFill>
                <a:latin typeface="Consolas" pitchFamily="34" charset="0"/>
                <a:ea typeface="Consolas" pitchFamily="34" charset="-122"/>
                <a:cs typeface="Consolas" pitchFamily="34" charset="-120"/>
              </a:rPr>
              <a:t> </a:t>
            </a:r>
            <a:r>
              <a:rPr lang="en-US" sz="900" dirty="0" err="1">
                <a:solidFill>
                  <a:srgbClr val="B0C4CC"/>
                </a:solidFill>
                <a:latin typeface="Consolas" pitchFamily="34" charset="0"/>
                <a:ea typeface="Consolas" pitchFamily="34" charset="-122"/>
                <a:cs typeface="Consolas" pitchFamily="34" charset="-120"/>
              </a:rPr>
              <a:t>claimsGROUP</a:t>
            </a:r>
            <a:r>
              <a:rPr lang="en-US" sz="900" dirty="0">
                <a:solidFill>
                  <a:srgbClr val="B0C4CC"/>
                </a:solidFill>
                <a:latin typeface="Consolas" pitchFamily="34" charset="0"/>
                <a:ea typeface="Consolas" pitchFamily="34" charset="-122"/>
                <a:cs typeface="Consolas" pitchFamily="34" charset="-120"/>
              </a:rPr>
              <a:t> BY Claim Status;</a:t>
            </a:r>
            <a:endParaRPr lang="en-US" sz="900" dirty="0"/>
          </a:p>
        </p:txBody>
      </p:sp>
      <p:sp>
        <p:nvSpPr>
          <p:cNvPr id="12" name="Shape 10">
            <a:extLst>
              <a:ext uri="{FF2B5EF4-FFF2-40B4-BE49-F238E27FC236}">
                <a16:creationId xmlns:a16="http://schemas.microsoft.com/office/drawing/2014/main" id="{A45B1C6A-1BAE-72FE-51CC-730F50943FBA}"/>
              </a:ext>
            </a:extLst>
          </p:cNvPr>
          <p:cNvSpPr/>
          <p:nvPr/>
        </p:nvSpPr>
        <p:spPr>
          <a:xfrm>
            <a:off x="6172200" y="960120"/>
            <a:ext cx="2788920" cy="1828800"/>
          </a:xfrm>
          <a:prstGeom prst="rect">
            <a:avLst/>
          </a:prstGeom>
          <a:solidFill>
            <a:srgbClr val="002C3E"/>
          </a:solidFill>
          <a:ln w="12700">
            <a:solidFill>
              <a:srgbClr val="004A5D"/>
            </a:solidFill>
            <a:prstDash val="solid"/>
          </a:ln>
          <a:effectLst>
            <a:outerShdw blurRad="101600" dist="38100" dir="8100000" algn="bl" rotWithShape="0">
              <a:srgbClr val="000000">
                <a:alpha val="18000"/>
              </a:srgbClr>
            </a:outerShdw>
          </a:effectLst>
        </p:spPr>
      </p:sp>
      <p:sp>
        <p:nvSpPr>
          <p:cNvPr id="13" name="Shape 11">
            <a:extLst>
              <a:ext uri="{FF2B5EF4-FFF2-40B4-BE49-F238E27FC236}">
                <a16:creationId xmlns:a16="http://schemas.microsoft.com/office/drawing/2014/main" id="{3B300B3C-2888-2478-B7E3-837A42B888FF}"/>
              </a:ext>
            </a:extLst>
          </p:cNvPr>
          <p:cNvSpPr/>
          <p:nvPr/>
        </p:nvSpPr>
        <p:spPr>
          <a:xfrm>
            <a:off x="6172200" y="960120"/>
            <a:ext cx="2788920" cy="365760"/>
          </a:xfrm>
          <a:prstGeom prst="rect">
            <a:avLst/>
          </a:prstGeom>
          <a:solidFill>
            <a:srgbClr val="004A5D"/>
          </a:solidFill>
          <a:ln w="12700">
            <a:solidFill>
              <a:srgbClr val="004A5D"/>
            </a:solidFill>
            <a:prstDash val="solid"/>
          </a:ln>
        </p:spPr>
      </p:sp>
      <p:sp>
        <p:nvSpPr>
          <p:cNvPr id="14" name="Text 12">
            <a:extLst>
              <a:ext uri="{FF2B5EF4-FFF2-40B4-BE49-F238E27FC236}">
                <a16:creationId xmlns:a16="http://schemas.microsoft.com/office/drawing/2014/main" id="{99C0DEB5-CFE2-CD91-F3E4-9C9940880F2E}"/>
              </a:ext>
            </a:extLst>
          </p:cNvPr>
          <p:cNvSpPr/>
          <p:nvPr/>
        </p:nvSpPr>
        <p:spPr>
          <a:xfrm>
            <a:off x="6217920" y="960120"/>
            <a:ext cx="2697480" cy="365760"/>
          </a:xfrm>
          <a:prstGeom prst="rect">
            <a:avLst/>
          </a:prstGeom>
          <a:noFill/>
          <a:ln/>
        </p:spPr>
        <p:txBody>
          <a:bodyPr wrap="square" rtlCol="0" anchor="ctr"/>
          <a:lstStyle/>
          <a:p>
            <a:r>
              <a:rPr lang="en-US" sz="1000" b="1" dirty="0">
                <a:solidFill>
                  <a:srgbClr val="FF4C16"/>
                </a:solidFill>
              </a:rPr>
              <a:t>-- 9 Payment Status Wise Policy Count</a:t>
            </a:r>
            <a:endParaRPr lang="en-US" sz="1000" dirty="0"/>
          </a:p>
        </p:txBody>
      </p:sp>
      <p:sp>
        <p:nvSpPr>
          <p:cNvPr id="15" name="Text 13">
            <a:extLst>
              <a:ext uri="{FF2B5EF4-FFF2-40B4-BE49-F238E27FC236}">
                <a16:creationId xmlns:a16="http://schemas.microsoft.com/office/drawing/2014/main" id="{C4B9D30C-A202-DD28-81CF-FEDE41BE204A}"/>
              </a:ext>
            </a:extLst>
          </p:cNvPr>
          <p:cNvSpPr/>
          <p:nvPr/>
        </p:nvSpPr>
        <p:spPr>
          <a:xfrm>
            <a:off x="6245352" y="1371600"/>
            <a:ext cx="2651760" cy="1371600"/>
          </a:xfrm>
          <a:prstGeom prst="rect">
            <a:avLst/>
          </a:prstGeom>
          <a:noFill/>
          <a:ln/>
        </p:spPr>
        <p:txBody>
          <a:bodyPr wrap="square" rtlCol="0" anchor="t"/>
          <a:lstStyle/>
          <a:p>
            <a:r>
              <a:rPr lang="en-US" sz="800" dirty="0">
                <a:solidFill>
                  <a:srgbClr val="B0C4CC"/>
                </a:solidFill>
                <a:latin typeface="Consolas" pitchFamily="34" charset="0"/>
                <a:ea typeface="Consolas" pitchFamily="34" charset="-122"/>
                <a:cs typeface="Consolas" pitchFamily="34" charset="-120"/>
              </a:rPr>
              <a:t>SELECT </a:t>
            </a:r>
            <a:r>
              <a:rPr lang="en-US" sz="800" dirty="0" err="1">
                <a:solidFill>
                  <a:srgbClr val="B0C4CC"/>
                </a:solidFill>
                <a:latin typeface="Consolas" pitchFamily="34" charset="0"/>
                <a:ea typeface="Consolas" pitchFamily="34" charset="-122"/>
                <a:cs typeface="Consolas" pitchFamily="34" charset="-120"/>
              </a:rPr>
              <a:t>income_class</a:t>
            </a:r>
            <a:r>
              <a:rPr lang="en-US" sz="800" dirty="0">
                <a:solidFill>
                  <a:srgbClr val="B0C4CC"/>
                </a:solidFill>
                <a:latin typeface="Consolas" pitchFamily="34" charset="0"/>
                <a:ea typeface="Consolas" pitchFamily="34" charset="-122"/>
                <a:cs typeface="Consolas" pitchFamily="34" charset="-120"/>
              </a:rPr>
              <a:t> AS </a:t>
            </a:r>
            <a:r>
              <a:rPr lang="en-US" sz="800" dirty="0" err="1">
                <a:solidFill>
                  <a:srgbClr val="B0C4CC"/>
                </a:solidFill>
                <a:latin typeface="Consolas" pitchFamily="34" charset="0"/>
                <a:ea typeface="Consolas" pitchFamily="34" charset="-122"/>
                <a:cs typeface="Consolas" pitchFamily="34" charset="-120"/>
              </a:rPr>
              <a:t>Payment_Status</a:t>
            </a:r>
            <a:r>
              <a:rPr lang="en-US" sz="800" dirty="0">
                <a:solidFill>
                  <a:srgbClr val="B0C4CC"/>
                </a:solidFill>
                <a:latin typeface="Consolas" pitchFamily="34" charset="0"/>
                <a:ea typeface="Consolas" pitchFamily="34" charset="-122"/>
                <a:cs typeface="Consolas" pitchFamily="34" charset="-120"/>
              </a:rPr>
              <a:t>, COUNT(DISTINCT </a:t>
            </a:r>
            <a:r>
              <a:rPr lang="en-US" sz="800" dirty="0" err="1">
                <a:solidFill>
                  <a:srgbClr val="B0C4CC"/>
                </a:solidFill>
                <a:latin typeface="Consolas" pitchFamily="34" charset="0"/>
                <a:ea typeface="Consolas" pitchFamily="34" charset="-122"/>
                <a:cs typeface="Consolas" pitchFamily="34" charset="-120"/>
              </a:rPr>
              <a:t>policy_number</a:t>
            </a:r>
            <a:r>
              <a:rPr lang="en-US" sz="800" dirty="0">
                <a:solidFill>
                  <a:srgbClr val="B0C4CC"/>
                </a:solidFill>
                <a:latin typeface="Consolas" pitchFamily="34" charset="0"/>
                <a:ea typeface="Consolas" pitchFamily="34" charset="-122"/>
                <a:cs typeface="Consolas" pitchFamily="34" charset="-120"/>
              </a:rPr>
              <a:t>) AS </a:t>
            </a:r>
            <a:r>
              <a:rPr lang="en-US" sz="800" dirty="0" err="1">
                <a:solidFill>
                  <a:srgbClr val="B0C4CC"/>
                </a:solidFill>
                <a:latin typeface="Consolas" pitchFamily="34" charset="0"/>
                <a:ea typeface="Consolas" pitchFamily="34" charset="-122"/>
                <a:cs typeface="Consolas" pitchFamily="34" charset="-120"/>
              </a:rPr>
              <a:t>Policy_CountFROM</a:t>
            </a:r>
            <a:r>
              <a:rPr lang="en-US" sz="800" dirty="0">
                <a:solidFill>
                  <a:srgbClr val="B0C4CC"/>
                </a:solidFill>
                <a:latin typeface="Consolas" pitchFamily="34" charset="0"/>
                <a:ea typeface="Consolas" pitchFamily="34" charset="-122"/>
                <a:cs typeface="Consolas" pitchFamily="34" charset="-120"/>
              </a:rPr>
              <a:t> </a:t>
            </a:r>
            <a:r>
              <a:rPr lang="en-US" sz="800" dirty="0" err="1">
                <a:solidFill>
                  <a:srgbClr val="B0C4CC"/>
                </a:solidFill>
                <a:latin typeface="Consolas" pitchFamily="34" charset="0"/>
                <a:ea typeface="Consolas" pitchFamily="34" charset="-122"/>
                <a:cs typeface="Consolas" pitchFamily="34" charset="-120"/>
              </a:rPr>
              <a:t>invoiceGROUP</a:t>
            </a:r>
            <a:r>
              <a:rPr lang="en-US" sz="800" dirty="0">
                <a:solidFill>
                  <a:srgbClr val="B0C4CC"/>
                </a:solidFill>
                <a:latin typeface="Consolas" pitchFamily="34" charset="0"/>
                <a:ea typeface="Consolas" pitchFamily="34" charset="-122"/>
                <a:cs typeface="Consolas" pitchFamily="34" charset="-120"/>
              </a:rPr>
              <a:t> BY </a:t>
            </a:r>
            <a:r>
              <a:rPr lang="en-US" sz="800" dirty="0" err="1">
                <a:solidFill>
                  <a:srgbClr val="B0C4CC"/>
                </a:solidFill>
                <a:latin typeface="Consolas" pitchFamily="34" charset="0"/>
                <a:ea typeface="Consolas" pitchFamily="34" charset="-122"/>
                <a:cs typeface="Consolas" pitchFamily="34" charset="-120"/>
              </a:rPr>
              <a:t>income_class</a:t>
            </a:r>
            <a:r>
              <a:rPr lang="en-US" sz="800" dirty="0">
                <a:solidFill>
                  <a:srgbClr val="B0C4CC"/>
                </a:solidFill>
                <a:latin typeface="Consolas" pitchFamily="34" charset="0"/>
                <a:ea typeface="Consolas" pitchFamily="34" charset="-122"/>
                <a:cs typeface="Consolas" pitchFamily="34" charset="-120"/>
              </a:rPr>
              <a:t>;</a:t>
            </a:r>
            <a:endParaRPr lang="en-US" sz="800" dirty="0"/>
          </a:p>
        </p:txBody>
      </p:sp>
      <p:sp>
        <p:nvSpPr>
          <p:cNvPr id="16" name="Shape 14">
            <a:extLst>
              <a:ext uri="{FF2B5EF4-FFF2-40B4-BE49-F238E27FC236}">
                <a16:creationId xmlns:a16="http://schemas.microsoft.com/office/drawing/2014/main" id="{58EDFACF-BDF8-EFC3-6F7E-BAF0915E46F9}"/>
              </a:ext>
            </a:extLst>
          </p:cNvPr>
          <p:cNvSpPr/>
          <p:nvPr/>
        </p:nvSpPr>
        <p:spPr>
          <a:xfrm>
            <a:off x="228600" y="2971800"/>
            <a:ext cx="2788920" cy="1828800"/>
          </a:xfrm>
          <a:prstGeom prst="rect">
            <a:avLst/>
          </a:prstGeom>
          <a:solidFill>
            <a:srgbClr val="002C3E"/>
          </a:solidFill>
          <a:ln w="12700">
            <a:solidFill>
              <a:srgbClr val="004A5D"/>
            </a:solidFill>
            <a:prstDash val="solid"/>
          </a:ln>
          <a:effectLst>
            <a:outerShdw blurRad="101600" dist="38100" dir="8100000" algn="bl" rotWithShape="0">
              <a:srgbClr val="000000">
                <a:alpha val="18000"/>
              </a:srgbClr>
            </a:outerShdw>
          </a:effectLst>
        </p:spPr>
      </p:sp>
      <p:sp>
        <p:nvSpPr>
          <p:cNvPr id="17" name="Shape 15">
            <a:extLst>
              <a:ext uri="{FF2B5EF4-FFF2-40B4-BE49-F238E27FC236}">
                <a16:creationId xmlns:a16="http://schemas.microsoft.com/office/drawing/2014/main" id="{7E76919A-2703-4D44-7D8D-6D5070B81353}"/>
              </a:ext>
            </a:extLst>
          </p:cNvPr>
          <p:cNvSpPr/>
          <p:nvPr/>
        </p:nvSpPr>
        <p:spPr>
          <a:xfrm>
            <a:off x="228600" y="2971800"/>
            <a:ext cx="2788920" cy="365760"/>
          </a:xfrm>
          <a:prstGeom prst="rect">
            <a:avLst/>
          </a:prstGeom>
          <a:solidFill>
            <a:srgbClr val="004A5D"/>
          </a:solidFill>
          <a:ln w="12700">
            <a:solidFill>
              <a:srgbClr val="004A5D"/>
            </a:solidFill>
            <a:prstDash val="solid"/>
          </a:ln>
        </p:spPr>
      </p:sp>
      <p:sp>
        <p:nvSpPr>
          <p:cNvPr id="18" name="Text 16">
            <a:extLst>
              <a:ext uri="{FF2B5EF4-FFF2-40B4-BE49-F238E27FC236}">
                <a16:creationId xmlns:a16="http://schemas.microsoft.com/office/drawing/2014/main" id="{F89AB35E-E540-2BAA-FB72-C014C2B81331}"/>
              </a:ext>
            </a:extLst>
          </p:cNvPr>
          <p:cNvSpPr/>
          <p:nvPr/>
        </p:nvSpPr>
        <p:spPr>
          <a:xfrm>
            <a:off x="274320" y="2971800"/>
            <a:ext cx="2697480" cy="365760"/>
          </a:xfrm>
          <a:prstGeom prst="rect">
            <a:avLst/>
          </a:prstGeom>
          <a:noFill/>
          <a:ln/>
        </p:spPr>
        <p:txBody>
          <a:bodyPr wrap="square" rtlCol="0" anchor="ctr"/>
          <a:lstStyle/>
          <a:p>
            <a:r>
              <a:rPr lang="en-US" sz="1000" b="1" dirty="0">
                <a:solidFill>
                  <a:srgbClr val="FF4C16"/>
                </a:solidFill>
              </a:rPr>
              <a:t>-- 10 Total Claim Amount</a:t>
            </a:r>
            <a:endParaRPr lang="en-US" sz="1000" dirty="0"/>
          </a:p>
        </p:txBody>
      </p:sp>
      <p:sp>
        <p:nvSpPr>
          <p:cNvPr id="19" name="Text 17">
            <a:extLst>
              <a:ext uri="{FF2B5EF4-FFF2-40B4-BE49-F238E27FC236}">
                <a16:creationId xmlns:a16="http://schemas.microsoft.com/office/drawing/2014/main" id="{79997259-AF88-F9BE-D20B-492AE955EAAC}"/>
              </a:ext>
            </a:extLst>
          </p:cNvPr>
          <p:cNvSpPr/>
          <p:nvPr/>
        </p:nvSpPr>
        <p:spPr>
          <a:xfrm>
            <a:off x="301752" y="3383280"/>
            <a:ext cx="2651760" cy="1371600"/>
          </a:xfrm>
          <a:prstGeom prst="rect">
            <a:avLst/>
          </a:prstGeom>
          <a:noFill/>
          <a:ln/>
        </p:spPr>
        <p:txBody>
          <a:bodyPr wrap="square" rtlCol="0" anchor="t"/>
          <a:lstStyle/>
          <a:p>
            <a:r>
              <a:rPr lang="en-US" sz="900" dirty="0">
                <a:solidFill>
                  <a:srgbClr val="B0C4CC"/>
                </a:solidFill>
                <a:latin typeface="Consolas" pitchFamily="34" charset="0"/>
                <a:ea typeface="Consolas" pitchFamily="34" charset="-122"/>
                <a:cs typeface="Consolas" pitchFamily="34" charset="-120"/>
              </a:rPr>
              <a:t>SELECT SUM(Claim Amount) AS </a:t>
            </a:r>
            <a:r>
              <a:rPr lang="en-US" sz="900" dirty="0" err="1">
                <a:solidFill>
                  <a:srgbClr val="B0C4CC"/>
                </a:solidFill>
                <a:latin typeface="Consolas" pitchFamily="34" charset="0"/>
                <a:ea typeface="Consolas" pitchFamily="34" charset="-122"/>
                <a:cs typeface="Consolas" pitchFamily="34" charset="-120"/>
              </a:rPr>
              <a:t>Total_Claim_PayoutFROM</a:t>
            </a:r>
            <a:r>
              <a:rPr lang="en-US" sz="900" dirty="0">
                <a:solidFill>
                  <a:srgbClr val="B0C4CC"/>
                </a:solidFill>
                <a:latin typeface="Consolas" pitchFamily="34" charset="0"/>
                <a:ea typeface="Consolas" pitchFamily="34" charset="-122"/>
                <a:cs typeface="Consolas" pitchFamily="34" charset="-120"/>
              </a:rPr>
              <a:t> claims;</a:t>
            </a:r>
            <a:endParaRPr lang="en-US" sz="900" dirty="0"/>
          </a:p>
        </p:txBody>
      </p:sp>
      <p:sp>
        <p:nvSpPr>
          <p:cNvPr id="22" name="Text 20">
            <a:extLst>
              <a:ext uri="{FF2B5EF4-FFF2-40B4-BE49-F238E27FC236}">
                <a16:creationId xmlns:a16="http://schemas.microsoft.com/office/drawing/2014/main" id="{C5C4ACD2-B529-46AA-6772-ECEF7084970E}"/>
              </a:ext>
            </a:extLst>
          </p:cNvPr>
          <p:cNvSpPr/>
          <p:nvPr/>
        </p:nvSpPr>
        <p:spPr>
          <a:xfrm>
            <a:off x="3246120" y="2971800"/>
            <a:ext cx="2697480" cy="365760"/>
          </a:xfrm>
          <a:prstGeom prst="rect">
            <a:avLst/>
          </a:prstGeom>
          <a:noFill/>
          <a:ln/>
        </p:spPr>
        <p:txBody>
          <a:bodyPr wrap="square" rtlCol="0" anchor="ctr"/>
          <a:lstStyle/>
          <a:p>
            <a:endParaRPr lang="en-US" sz="1000" dirty="0"/>
          </a:p>
        </p:txBody>
      </p:sp>
      <p:sp>
        <p:nvSpPr>
          <p:cNvPr id="23" name="Text 21">
            <a:extLst>
              <a:ext uri="{FF2B5EF4-FFF2-40B4-BE49-F238E27FC236}">
                <a16:creationId xmlns:a16="http://schemas.microsoft.com/office/drawing/2014/main" id="{0F491A9E-2896-5585-7BBE-8EFF1EAECEE1}"/>
              </a:ext>
            </a:extLst>
          </p:cNvPr>
          <p:cNvSpPr/>
          <p:nvPr/>
        </p:nvSpPr>
        <p:spPr>
          <a:xfrm>
            <a:off x="3273552" y="3383280"/>
            <a:ext cx="2651760" cy="1371600"/>
          </a:xfrm>
          <a:prstGeom prst="rect">
            <a:avLst/>
          </a:prstGeom>
          <a:noFill/>
          <a:ln/>
        </p:spPr>
        <p:txBody>
          <a:bodyPr wrap="square" rtlCol="0" anchor="t"/>
          <a:lstStyle/>
          <a:p>
            <a:endParaRPr lang="en-US" sz="900" dirty="0"/>
          </a:p>
        </p:txBody>
      </p:sp>
      <p:sp>
        <p:nvSpPr>
          <p:cNvPr id="26" name="Text 24">
            <a:extLst>
              <a:ext uri="{FF2B5EF4-FFF2-40B4-BE49-F238E27FC236}">
                <a16:creationId xmlns:a16="http://schemas.microsoft.com/office/drawing/2014/main" id="{1658961E-B318-D36B-E811-23B43240E92B}"/>
              </a:ext>
            </a:extLst>
          </p:cNvPr>
          <p:cNvSpPr/>
          <p:nvPr/>
        </p:nvSpPr>
        <p:spPr>
          <a:xfrm>
            <a:off x="6217920" y="2971800"/>
            <a:ext cx="2697480" cy="365760"/>
          </a:xfrm>
          <a:prstGeom prst="rect">
            <a:avLst/>
          </a:prstGeom>
          <a:noFill/>
          <a:ln/>
        </p:spPr>
        <p:txBody>
          <a:bodyPr wrap="square" rtlCol="0" anchor="ctr"/>
          <a:lstStyle/>
          <a:p>
            <a:endParaRPr lang="en-US" sz="1000" dirty="0"/>
          </a:p>
        </p:txBody>
      </p:sp>
      <p:sp>
        <p:nvSpPr>
          <p:cNvPr id="27" name="Text 25">
            <a:extLst>
              <a:ext uri="{FF2B5EF4-FFF2-40B4-BE49-F238E27FC236}">
                <a16:creationId xmlns:a16="http://schemas.microsoft.com/office/drawing/2014/main" id="{C746A6D2-003C-8F28-B3BD-52835A4811A8}"/>
              </a:ext>
            </a:extLst>
          </p:cNvPr>
          <p:cNvSpPr/>
          <p:nvPr/>
        </p:nvSpPr>
        <p:spPr>
          <a:xfrm>
            <a:off x="6245352" y="3383280"/>
            <a:ext cx="2651760" cy="1371600"/>
          </a:xfrm>
          <a:prstGeom prst="rect">
            <a:avLst/>
          </a:prstGeom>
          <a:noFill/>
          <a:ln/>
        </p:spPr>
        <p:txBody>
          <a:bodyPr wrap="square" rtlCol="0" anchor="t"/>
          <a:lstStyle/>
          <a:p>
            <a:endParaRPr lang="en-US" sz="900" dirty="0"/>
          </a:p>
        </p:txBody>
      </p:sp>
    </p:spTree>
    <p:extLst>
      <p:ext uri="{BB962C8B-B14F-4D97-AF65-F5344CB8AC3E}">
        <p14:creationId xmlns:p14="http://schemas.microsoft.com/office/powerpoint/2010/main" val="41399521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4">
    <p:bg>
      <p:bgPr>
        <a:solidFill>
          <a:srgbClr val="F0F4F5"/>
        </a:solidFill>
        <a:effectLst/>
      </p:bgPr>
    </p:bg>
    <p:spTree>
      <p:nvGrpSpPr>
        <p:cNvPr id="1" name=""/>
        <p:cNvGrpSpPr/>
        <p:nvPr/>
      </p:nvGrpSpPr>
      <p:grpSpPr>
        <a:xfrm>
          <a:off x="0" y="0"/>
          <a:ext cx="0" cy="0"/>
          <a:chOff x="0" y="0"/>
          <a:chExt cx="0" cy="0"/>
        </a:xfrm>
      </p:grpSpPr>
      <p:sp>
        <p:nvSpPr>
          <p:cNvPr id="3" name="Text 1"/>
          <p:cNvSpPr/>
          <p:nvPr/>
        </p:nvSpPr>
        <p:spPr>
          <a:xfrm>
            <a:off x="274320" y="0"/>
            <a:ext cx="8229600" cy="822960"/>
          </a:xfrm>
          <a:prstGeom prst="rect">
            <a:avLst/>
          </a:prstGeom>
          <a:noFill/>
          <a:ln/>
        </p:spPr>
        <p:txBody>
          <a:bodyPr wrap="square" rtlCol="0" anchor="ctr"/>
          <a:lstStyle/>
          <a:p>
            <a:r>
              <a:rPr lang="en-IN" sz="2800" b="1" dirty="0">
                <a:solidFill>
                  <a:schemeClr val="bg1"/>
                </a:solidFill>
              </a:rPr>
              <a:t>Key Findings</a:t>
            </a:r>
            <a:endParaRPr lang="en-US" sz="2800" b="1" dirty="0">
              <a:solidFill>
                <a:schemeClr val="bg1"/>
              </a:solidFill>
            </a:endParaRPr>
          </a:p>
        </p:txBody>
      </p:sp>
      <p:sp>
        <p:nvSpPr>
          <p:cNvPr id="5" name="Shape 3"/>
          <p:cNvSpPr/>
          <p:nvPr/>
        </p:nvSpPr>
        <p:spPr>
          <a:xfrm>
            <a:off x="347472" y="980694"/>
            <a:ext cx="66031" cy="893826"/>
          </a:xfrm>
          <a:prstGeom prst="rect">
            <a:avLst/>
          </a:prstGeom>
          <a:solidFill>
            <a:srgbClr val="FF4C16"/>
          </a:solidFill>
          <a:ln w="12700">
            <a:solidFill>
              <a:srgbClr val="FF4C16"/>
            </a:solidFill>
            <a:prstDash val="solid"/>
          </a:ln>
        </p:spPr>
      </p:sp>
      <p:sp>
        <p:nvSpPr>
          <p:cNvPr id="6" name="Text 4"/>
          <p:cNvSpPr/>
          <p:nvPr/>
        </p:nvSpPr>
        <p:spPr>
          <a:xfrm>
            <a:off x="457200" y="1005840"/>
            <a:ext cx="8229600" cy="256032"/>
          </a:xfrm>
          <a:prstGeom prst="rect">
            <a:avLst/>
          </a:prstGeom>
          <a:noFill/>
          <a:ln/>
        </p:spPr>
        <p:txBody>
          <a:bodyPr wrap="square" rtlCol="0" anchor="ctr"/>
          <a:lstStyle/>
          <a:p>
            <a:pPr marL="0" indent="0">
              <a:buNone/>
            </a:pPr>
            <a:endParaRPr lang="en-US" sz="1200" dirty="0"/>
          </a:p>
        </p:txBody>
      </p:sp>
      <p:sp>
        <p:nvSpPr>
          <p:cNvPr id="9" name="Shape 7"/>
          <p:cNvSpPr/>
          <p:nvPr/>
        </p:nvSpPr>
        <p:spPr>
          <a:xfrm>
            <a:off x="426720" y="2144268"/>
            <a:ext cx="8595360" cy="822960"/>
          </a:xfrm>
          <a:prstGeom prst="rect">
            <a:avLst/>
          </a:prstGeom>
          <a:solidFill>
            <a:srgbClr val="FFFFFF"/>
          </a:solidFill>
          <a:ln w="12700">
            <a:solidFill>
              <a:srgbClr val="004A5D"/>
            </a:solidFill>
            <a:prstDash val="solid"/>
          </a:ln>
          <a:effectLst>
            <a:outerShdw blurRad="101600" dist="38100" dir="8100000" algn="bl" rotWithShape="0">
              <a:srgbClr val="000000">
                <a:alpha val="18000"/>
              </a:srgbClr>
            </a:outerShdw>
          </a:effectLst>
        </p:spPr>
      </p:sp>
      <p:sp>
        <p:nvSpPr>
          <p:cNvPr id="10" name="Shape 8"/>
          <p:cNvSpPr/>
          <p:nvPr/>
        </p:nvSpPr>
        <p:spPr>
          <a:xfrm>
            <a:off x="347472" y="2144268"/>
            <a:ext cx="73152" cy="822960"/>
          </a:xfrm>
          <a:prstGeom prst="rect">
            <a:avLst/>
          </a:prstGeom>
          <a:solidFill>
            <a:srgbClr val="FF4C16"/>
          </a:solidFill>
          <a:ln w="12700">
            <a:solidFill>
              <a:srgbClr val="FF4C16"/>
            </a:solidFill>
            <a:prstDash val="solid"/>
          </a:ln>
        </p:spPr>
      </p:sp>
      <p:sp>
        <p:nvSpPr>
          <p:cNvPr id="12" name="Text 10"/>
          <p:cNvSpPr/>
          <p:nvPr/>
        </p:nvSpPr>
        <p:spPr>
          <a:xfrm>
            <a:off x="508673" y="2359515"/>
            <a:ext cx="8229600" cy="384048"/>
          </a:xfrm>
          <a:prstGeom prst="rect">
            <a:avLst/>
          </a:prstGeom>
          <a:noFill/>
          <a:ln/>
        </p:spPr>
        <p:txBody>
          <a:bodyPr wrap="square" rtlCol="0" anchor="ctr"/>
          <a:lstStyle/>
          <a:p>
            <a:r>
              <a:rPr lang="en-IN" sz="1400" b="1" dirty="0"/>
              <a:t>Sales Pipeline Efficiency:</a:t>
            </a:r>
            <a:r>
              <a:rPr lang="en-IN" sz="1400" dirty="0"/>
              <a:t> Funnel analysis highlighted major revenue drop-offs between the initial qualification stages and final negotiations, pinpointing where deals stall.</a:t>
            </a:r>
            <a:endParaRPr lang="en-US" sz="1400" dirty="0"/>
          </a:p>
        </p:txBody>
      </p:sp>
      <p:sp>
        <p:nvSpPr>
          <p:cNvPr id="13" name="Text 11"/>
          <p:cNvSpPr/>
          <p:nvPr/>
        </p:nvSpPr>
        <p:spPr>
          <a:xfrm>
            <a:off x="457200" y="2990088"/>
            <a:ext cx="8229600" cy="384048"/>
          </a:xfrm>
          <a:prstGeom prst="rect">
            <a:avLst/>
          </a:prstGeom>
          <a:noFill/>
          <a:ln/>
        </p:spPr>
        <p:txBody>
          <a:bodyPr wrap="square" rtlCol="0" anchor="ctr"/>
          <a:lstStyle/>
          <a:p>
            <a:pPr marL="0" indent="0">
              <a:buNone/>
            </a:pPr>
            <a:endParaRPr lang="en-US" sz="950" dirty="0"/>
          </a:p>
        </p:txBody>
      </p:sp>
      <p:sp>
        <p:nvSpPr>
          <p:cNvPr id="14" name="Shape 12"/>
          <p:cNvSpPr/>
          <p:nvPr/>
        </p:nvSpPr>
        <p:spPr>
          <a:xfrm>
            <a:off x="426720" y="3252979"/>
            <a:ext cx="8595360" cy="755847"/>
          </a:xfrm>
          <a:prstGeom prst="rect">
            <a:avLst/>
          </a:prstGeom>
          <a:solidFill>
            <a:srgbClr val="FFFFFF"/>
          </a:solidFill>
          <a:ln w="12700">
            <a:solidFill>
              <a:srgbClr val="004A5D"/>
            </a:solidFill>
            <a:prstDash val="solid"/>
          </a:ln>
          <a:effectLst>
            <a:outerShdw blurRad="101600" dist="38100" dir="8100000" algn="bl" rotWithShape="0">
              <a:srgbClr val="000000">
                <a:alpha val="18000"/>
              </a:srgbClr>
            </a:outerShdw>
          </a:effectLst>
        </p:spPr>
      </p:sp>
      <p:sp>
        <p:nvSpPr>
          <p:cNvPr id="15" name="Shape 13"/>
          <p:cNvSpPr/>
          <p:nvPr/>
        </p:nvSpPr>
        <p:spPr>
          <a:xfrm>
            <a:off x="340387" y="3252979"/>
            <a:ext cx="73116" cy="755847"/>
          </a:xfrm>
          <a:prstGeom prst="rect">
            <a:avLst/>
          </a:prstGeom>
          <a:solidFill>
            <a:srgbClr val="FF4C16"/>
          </a:solidFill>
          <a:ln w="12700">
            <a:solidFill>
              <a:srgbClr val="FF4C16"/>
            </a:solidFill>
            <a:prstDash val="solid"/>
          </a:ln>
        </p:spPr>
      </p:sp>
      <p:sp>
        <p:nvSpPr>
          <p:cNvPr id="16" name="Text 14"/>
          <p:cNvSpPr/>
          <p:nvPr/>
        </p:nvSpPr>
        <p:spPr>
          <a:xfrm>
            <a:off x="457200" y="3657600"/>
            <a:ext cx="8229600" cy="256032"/>
          </a:xfrm>
          <a:prstGeom prst="rect">
            <a:avLst/>
          </a:prstGeom>
          <a:noFill/>
          <a:ln/>
        </p:spPr>
        <p:txBody>
          <a:bodyPr wrap="square" rtlCol="0" anchor="ctr"/>
          <a:lstStyle/>
          <a:p>
            <a:pPr marL="0" indent="0">
              <a:buNone/>
            </a:pPr>
            <a:endParaRPr lang="en-US" sz="1200" dirty="0"/>
          </a:p>
        </p:txBody>
      </p:sp>
      <p:sp>
        <p:nvSpPr>
          <p:cNvPr id="17" name="Text 15"/>
          <p:cNvSpPr/>
          <p:nvPr/>
        </p:nvSpPr>
        <p:spPr>
          <a:xfrm>
            <a:off x="609600" y="3419856"/>
            <a:ext cx="8229600" cy="384048"/>
          </a:xfrm>
          <a:prstGeom prst="rect">
            <a:avLst/>
          </a:prstGeom>
          <a:noFill/>
          <a:ln/>
        </p:spPr>
        <p:txBody>
          <a:bodyPr wrap="square" rtlCol="0" anchor="ctr"/>
          <a:lstStyle/>
          <a:p>
            <a:r>
              <a:rPr lang="en-IN" sz="1400" b="1" dirty="0"/>
              <a:t>Client &amp; Segment Concentration:</a:t>
            </a:r>
            <a:r>
              <a:rPr lang="en-IN" sz="1400" dirty="0"/>
              <a:t> Customer analytics demonstrated that specific client segments and industries drive the majority of the book of business, guiding where future sales efforts should focus.</a:t>
            </a:r>
            <a:endParaRPr lang="en-US" sz="1400" dirty="0"/>
          </a:p>
        </p:txBody>
      </p:sp>
      <p:sp>
        <p:nvSpPr>
          <p:cNvPr id="20" name="Shape 7">
            <a:extLst>
              <a:ext uri="{FF2B5EF4-FFF2-40B4-BE49-F238E27FC236}">
                <a16:creationId xmlns:a16="http://schemas.microsoft.com/office/drawing/2014/main" id="{0C1072C9-D29C-9C41-3277-FD79920C1A1C}"/>
              </a:ext>
            </a:extLst>
          </p:cNvPr>
          <p:cNvSpPr/>
          <p:nvPr/>
        </p:nvSpPr>
        <p:spPr>
          <a:xfrm>
            <a:off x="426720" y="980694"/>
            <a:ext cx="8595360" cy="909828"/>
          </a:xfrm>
          <a:prstGeom prst="rect">
            <a:avLst/>
          </a:prstGeom>
          <a:solidFill>
            <a:srgbClr val="FFFFFF"/>
          </a:solidFill>
          <a:ln w="12700">
            <a:solidFill>
              <a:srgbClr val="004A5D"/>
            </a:solidFill>
            <a:prstDash val="solid"/>
          </a:ln>
          <a:effectLst>
            <a:outerShdw blurRad="101600" dist="38100" dir="8100000" algn="bl" rotWithShape="0">
              <a:srgbClr val="000000">
                <a:alpha val="18000"/>
              </a:srgbClr>
            </a:outerShdw>
          </a:effectLst>
        </p:spPr>
      </p:sp>
      <p:sp>
        <p:nvSpPr>
          <p:cNvPr id="21" name="TextBox 20">
            <a:extLst>
              <a:ext uri="{FF2B5EF4-FFF2-40B4-BE49-F238E27FC236}">
                <a16:creationId xmlns:a16="http://schemas.microsoft.com/office/drawing/2014/main" id="{936B5163-8A3D-1093-1B31-FFC3E203E5DE}"/>
              </a:ext>
            </a:extLst>
          </p:cNvPr>
          <p:cNvSpPr txBox="1"/>
          <p:nvPr/>
        </p:nvSpPr>
        <p:spPr>
          <a:xfrm>
            <a:off x="508673" y="1090279"/>
            <a:ext cx="7637965" cy="738664"/>
          </a:xfrm>
          <a:prstGeom prst="rect">
            <a:avLst/>
          </a:prstGeom>
          <a:noFill/>
        </p:spPr>
        <p:txBody>
          <a:bodyPr wrap="square" rtlCol="0">
            <a:spAutoFit/>
          </a:bodyPr>
          <a:lstStyle/>
          <a:p>
            <a:r>
              <a:rPr lang="en-IN" sz="1400" b="1" dirty="0"/>
              <a:t>Target Achievement Gaps:</a:t>
            </a:r>
            <a:r>
              <a:rPr lang="en-IN" sz="1400" dirty="0"/>
              <a:t> Performance metrics showed distinct variances across business lines, revealing where teams hit targets and where cash flow risks (such as the placed-vs-invoiced gap) occurred.</a:t>
            </a:r>
          </a:p>
        </p:txBody>
      </p:sp>
      <p:sp>
        <p:nvSpPr>
          <p:cNvPr id="23" name="Shape 12">
            <a:extLst>
              <a:ext uri="{FF2B5EF4-FFF2-40B4-BE49-F238E27FC236}">
                <a16:creationId xmlns:a16="http://schemas.microsoft.com/office/drawing/2014/main" id="{B5386EE2-301C-1924-36FB-D27F93E0546A}"/>
              </a:ext>
            </a:extLst>
          </p:cNvPr>
          <p:cNvSpPr/>
          <p:nvPr/>
        </p:nvSpPr>
        <p:spPr>
          <a:xfrm>
            <a:off x="426720" y="4197096"/>
            <a:ext cx="8595360" cy="755847"/>
          </a:xfrm>
          <a:prstGeom prst="rect">
            <a:avLst/>
          </a:prstGeom>
          <a:solidFill>
            <a:srgbClr val="FFFFFF"/>
          </a:solidFill>
          <a:ln w="12700">
            <a:solidFill>
              <a:srgbClr val="004A5D"/>
            </a:solidFill>
            <a:prstDash val="solid"/>
          </a:ln>
          <a:effectLst>
            <a:outerShdw blurRad="101600" dist="38100" dir="8100000" algn="bl" rotWithShape="0">
              <a:srgbClr val="000000">
                <a:alpha val="18000"/>
              </a:srgbClr>
            </a:outerShdw>
          </a:effectLst>
        </p:spPr>
      </p:sp>
      <p:sp>
        <p:nvSpPr>
          <p:cNvPr id="25" name="Shape 13">
            <a:extLst>
              <a:ext uri="{FF2B5EF4-FFF2-40B4-BE49-F238E27FC236}">
                <a16:creationId xmlns:a16="http://schemas.microsoft.com/office/drawing/2014/main" id="{37FC3F68-314B-F96A-1B56-7DA8AC35E10A}"/>
              </a:ext>
            </a:extLst>
          </p:cNvPr>
          <p:cNvSpPr/>
          <p:nvPr/>
        </p:nvSpPr>
        <p:spPr>
          <a:xfrm>
            <a:off x="341493" y="4197096"/>
            <a:ext cx="73116" cy="755847"/>
          </a:xfrm>
          <a:prstGeom prst="rect">
            <a:avLst/>
          </a:prstGeom>
          <a:solidFill>
            <a:srgbClr val="FF4C16"/>
          </a:solidFill>
          <a:ln w="12700">
            <a:solidFill>
              <a:srgbClr val="FF4C16"/>
            </a:solidFill>
            <a:prstDash val="solid"/>
          </a:ln>
        </p:spPr>
      </p:sp>
      <p:sp>
        <p:nvSpPr>
          <p:cNvPr id="28" name="TextBox 27">
            <a:extLst>
              <a:ext uri="{FF2B5EF4-FFF2-40B4-BE49-F238E27FC236}">
                <a16:creationId xmlns:a16="http://schemas.microsoft.com/office/drawing/2014/main" id="{232FAD30-B513-B36E-0572-3E1C9C83F7BA}"/>
              </a:ext>
            </a:extLst>
          </p:cNvPr>
          <p:cNvSpPr txBox="1"/>
          <p:nvPr/>
        </p:nvSpPr>
        <p:spPr>
          <a:xfrm>
            <a:off x="609600" y="4313409"/>
            <a:ext cx="8046720" cy="523220"/>
          </a:xfrm>
          <a:prstGeom prst="rect">
            <a:avLst/>
          </a:prstGeom>
          <a:noFill/>
        </p:spPr>
        <p:txBody>
          <a:bodyPr wrap="square" rtlCol="0">
            <a:spAutoFit/>
          </a:bodyPr>
          <a:lstStyle/>
          <a:p>
            <a:r>
              <a:rPr lang="en-IN" sz="1400" b="1" dirty="0"/>
              <a:t>Activity-to-Revenue Impact:</a:t>
            </a:r>
            <a:r>
              <a:rPr lang="en-IN" sz="1400" dirty="0"/>
              <a:t> Tracking meeting counts and engagement metrics against closed wins revealed how client interaction frequency directly correlates with individual deal success.</a:t>
            </a:r>
          </a:p>
        </p:txBody>
      </p:sp>
      <p:sp>
        <p:nvSpPr>
          <p:cNvPr id="30" name="Shape 0">
            <a:extLst>
              <a:ext uri="{FF2B5EF4-FFF2-40B4-BE49-F238E27FC236}">
                <a16:creationId xmlns:a16="http://schemas.microsoft.com/office/drawing/2014/main" id="{E920780D-40F8-B281-B9DC-49D3E351EDFC}"/>
              </a:ext>
            </a:extLst>
          </p:cNvPr>
          <p:cNvSpPr/>
          <p:nvPr/>
        </p:nvSpPr>
        <p:spPr>
          <a:xfrm>
            <a:off x="0" y="0"/>
            <a:ext cx="9144000" cy="822960"/>
          </a:xfrm>
          <a:prstGeom prst="rect">
            <a:avLst/>
          </a:prstGeom>
          <a:solidFill>
            <a:srgbClr val="FF4C16"/>
          </a:solidFill>
          <a:ln w="12700">
            <a:solidFill>
              <a:srgbClr val="FF4C16"/>
            </a:solidFill>
            <a:prstDash val="solid"/>
          </a:ln>
        </p:spPr>
      </p:sp>
      <p:sp>
        <p:nvSpPr>
          <p:cNvPr id="31" name="TextBox 30">
            <a:extLst>
              <a:ext uri="{FF2B5EF4-FFF2-40B4-BE49-F238E27FC236}">
                <a16:creationId xmlns:a16="http://schemas.microsoft.com/office/drawing/2014/main" id="{05D12112-A06F-AE1B-38C3-A8EC620DC7B0}"/>
              </a:ext>
            </a:extLst>
          </p:cNvPr>
          <p:cNvSpPr txBox="1"/>
          <p:nvPr/>
        </p:nvSpPr>
        <p:spPr>
          <a:xfrm>
            <a:off x="189445" y="126875"/>
            <a:ext cx="2035942" cy="523220"/>
          </a:xfrm>
          <a:prstGeom prst="rect">
            <a:avLst/>
          </a:prstGeom>
          <a:noFill/>
        </p:spPr>
        <p:txBody>
          <a:bodyPr wrap="none" rtlCol="0">
            <a:spAutoFit/>
          </a:bodyPr>
          <a:lstStyle/>
          <a:p>
            <a:r>
              <a:rPr lang="en-IN" sz="2800" b="1" dirty="0">
                <a:solidFill>
                  <a:schemeClr val="bg1"/>
                </a:solidFill>
              </a:rPr>
              <a:t>Key Findings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TotalTime>
  <Words>668</Words>
  <Application>Microsoft Office PowerPoint</Application>
  <PresentationFormat>On-screen Show (16:9)</PresentationFormat>
  <Paragraphs>52</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Employee Retention Analytics</dc:title>
  <dc:subject>PptxGenJS Presentation</dc:subject>
  <dc:creator>PptxGenJS</dc:creator>
  <cp:lastModifiedBy>Vuppala Saideep</cp:lastModifiedBy>
  <cp:revision>5</cp:revision>
  <dcterms:created xsi:type="dcterms:W3CDTF">2026-06-06T17:14:38Z</dcterms:created>
  <dcterms:modified xsi:type="dcterms:W3CDTF">2026-07-24T22:24:14Z</dcterms:modified>
</cp:coreProperties>
</file>